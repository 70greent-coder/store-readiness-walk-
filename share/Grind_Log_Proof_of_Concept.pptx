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1402ae9-ead0-befa-e8de-a8d97409b99e}">
          <p14:sldIdLst>
            <p14:sldId id="256"/>
          </p14:sldIdLst>
        </p14:section>
        <p14:section name="The need" id="{62290bd3-462d-05c2-e064-dd678e516ae5}">
          <p14:sldIdLst>
            <p14:sldId id="257"/>
            <p14:sldId id="258"/>
            <p14:sldId id="259"/>
          </p14:sldIdLst>
        </p14:section>
        <p14:section name="The solution" id="{693b58bf-221f-023e-7833-45e8465c30df}">
          <p14:sldIdLst>
            <p14:sldId id="260"/>
            <p14:sldId id="261"/>
          </p14:sldIdLst>
        </p14:section>
        <p14:section name="Benefits" id="{62c7fcc6-8caa-4e6b-ad18-16c03f44879f}">
          <p14:sldIdLst>
            <p14:sldId id="262"/>
            <p14:sldId id="263"/>
            <p14:sldId id="264"/>
            <p14:sldId id="265"/>
          </p14:sldIdLst>
        </p14:section>
        <p14:section name="Next steps" id="{3fbbb510-8121-b243-d14c-85399a4bbb1b}">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Grind Log is a proof of concept from the Carolina Zone. It replaces hand-copied ground beef records with a phone-based scan of the beef box barcode, and produces DeCA Form 40-337 automatically. Everything shown in this deck is the working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sets of rules require these records: DeCA's own directive (DeCAM 40-3.1, Form 40-337) and the USDA FSIS rule at 9 CFR 320.1(b)(4), finalized in December 2015. The FSIS rule requires the source establishment numbers, lot and production dates, and the date and time grinding equipment is cleaned and sanitized, kept on site for one year. During a recall, this log is how we prove which product is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every grind is documented today. The barcode label on a beef box already carries the product code, pack date and serial number, yet we copy them by hand onto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weakness is not the people, it's the method. A 14-digit code copied by hand can be transposed, written illegibly, or skipped, and a paper sheet can be lost or damaged. Any of these breaks the trace exactly when we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Grind Log follows the same four-step rhythm every time: scan, verify, save, print. The employee stays in control — the app reads the barcode, but a person confirms every value before it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 from the app. Left: the boxes recorded for a grind. Middle: the review screen after a label photo — green tags mean the value came from the barcode, yellow means it was looked up and should be checked against the label. Right: the completed DeCA Form 40-337 the app produces.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six traceability values come straight from the GS1-128 barcode that suppliers print on every box, so they are captured exactly as encoded. Manufacturer and establishment number are looked up and clearly flagged for the employee to confirm. The app also catches duplicate boxes and missing information before a log is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recall notice arrives, it names the supplier, establishment number and pack dates. With Grind Log, a manager opens Records, finds the grinds by date, and sees the exact boxes used, with their product codes, establishment numbers and pack dates, then prints or exports the log for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case in one table. Same required information, captured more accurately, stored more safely, and found faster — at no additional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runs in the phone's web browser, so there is nothing to buy and nothing to install beyond adding it to the home screen. Records stay on the phone; nothing is sent to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request: approve a Carolina Zone pilot, running Grind Log alongside the paper log so we can measure the difference, and engage Store Operations and DeCA IT on approved hosting and central record storage. The QR code opens the working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pic>
        <p:nvPicPr>
          <p:cNvPr id="2" name="Image 0" descr="/tmp/claude-0/-home-user-Store-Readiness-Walk-/ddbbaf41-3542-5514-b50e-035ebffb617f/scratchpad/deck/logo-clean.png">    </p:cNvPr>
          <p:cNvPicPr>
            <a:picLocks noChangeAspect="1"/>
          </p:cNvPicPr>
          <p:nvPr/>
        </p:nvPicPr>
        <p:blipFill>
          <a:blip r:embed="rId1"/>
          <a:stretch>
            <a:fillRect/>
          </a:stretch>
        </p:blipFill>
        <p:spPr>
          <a:xfrm>
            <a:off x="10927080" y="292608"/>
            <a:ext cx="914400" cy="696773"/>
          </a:xfrm>
          <a:prstGeom prst="rect">
            <a:avLst/>
          </a:prstGeom>
        </p:spPr>
      </p:pic>
      <p:sp>
        <p:nvSpPr>
          <p:cNvPr id="3" name="Text 0"/>
          <p:cNvSpPr/>
          <p:nvPr>
            <p:ph idx="101" type="body" hasCustomPrompt="1"/>
          </p:nvPr>
        </p:nvSpPr>
        <p:spPr>
          <a:xfrm>
            <a:off x="640080" y="457200"/>
            <a:ext cx="9692640" cy="320040"/>
          </a:xfrm>
          <a:prstGeom prst="rect">
            <a:avLst/>
          </a:prstGeom>
          <a:noFill/>
          <a:ln/>
        </p:spPr>
        <p:txBody>
          <a:bodyPr wrap="square" rtlCol="0"/>
          <a:lstStyle>
            <a:lvl1pPr indent="0" marL="0">
              <a:buNone/>
              <a:defRPr lang="en-US" sz="1200" b="1" spc="400" kern="0" dirty="0">
                <a:solidFill>
                  <a:schemeClr val="accent2"/>
                </a:solidFill>
              </a:defRPr>
            </a:lvl1pPr>
          </a:lstStyle>
          <a:p>
            <a:pPr indent="0" marL="0">
              <a:buNone/>
            </a:pPr>
            <a:endParaRPr lang="en-US" sz="1200" dirty="0"/>
          </a:p>
        </p:txBody>
      </p:sp>
      <p:sp>
        <p:nvSpPr>
          <p:cNvPr id="4" name="Text 0"/>
          <p:cNvSpPr/>
          <p:nvPr>
            <p:ph idx="102" type="title" hasCustomPrompt="1"/>
          </p:nvPr>
        </p:nvSpPr>
        <p:spPr>
          <a:xfrm>
            <a:off x="640080" y="777240"/>
            <a:ext cx="9966960" cy="82296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pic>
        <p:nvPicPr>
          <p:cNvPr id="2" name="Image 0" descr="/tmp/claude-0/-home-user-Store-Readiness-Walk-/ddbbaf41-3542-5514-b50e-035ebffb617f/scratchpad/deck/logo-clean.png">    </p:cNvPr>
          <p:cNvPicPr>
            <a:picLocks noChangeAspect="1"/>
          </p:cNvPicPr>
          <p:nvPr/>
        </p:nvPicPr>
        <p:blipFill>
          <a:blip r:embed="rId1"/>
          <a:stretch>
            <a:fillRect/>
          </a:stretch>
        </p:blipFill>
        <p:spPr>
          <a:xfrm>
            <a:off x="10927080" y="292608"/>
            <a:ext cx="914400" cy="696773"/>
          </a:xfrm>
          <a:prstGeom prst="rect">
            <a:avLst/>
          </a:prstGeom>
        </p:spPr>
      </p:pic>
      <p:sp>
        <p:nvSpPr>
          <p:cNvPr id="3" name="Text 0"/>
          <p:cNvSpPr/>
          <p:nvPr>
            <p:ph idx="101" type="body" hasCustomPrompt="1"/>
          </p:nvPr>
        </p:nvSpPr>
        <p:spPr>
          <a:xfrm>
            <a:off x="640080" y="457200"/>
            <a:ext cx="9692640" cy="320040"/>
          </a:xfrm>
          <a:prstGeom prst="rect">
            <a:avLst/>
          </a:prstGeom>
          <a:noFill/>
          <a:ln/>
        </p:spPr>
        <p:txBody>
          <a:bodyPr wrap="square" rtlCol="0"/>
          <a:lstStyle>
            <a:lvl1pPr indent="0" marL="0">
              <a:buNone/>
              <a:defRPr lang="en-US" sz="1200" b="1" spc="400" kern="0" dirty="0">
                <a:solidFill>
                  <a:schemeClr val="accent2"/>
                </a:solidFill>
              </a:defRPr>
            </a:lvl1pPr>
          </a:lstStyle>
          <a:p>
            <a:pPr indent="0" marL="0">
              <a:buNone/>
            </a:pPr>
            <a:endParaRPr lang="en-US" sz="1200" dirty="0"/>
          </a:p>
        </p:txBody>
      </p:sp>
      <p:sp>
        <p:nvSpPr>
          <p:cNvPr id="4" name="Text 0"/>
          <p:cNvSpPr/>
          <p:nvPr>
            <p:ph idx="102" type="title" hasCustomPrompt="1"/>
          </p:nvPr>
        </p:nvSpPr>
        <p:spPr>
          <a:xfrm>
            <a:off x="640080" y="777240"/>
            <a:ext cx="9966960" cy="82296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pic>
        <p:nvPicPr>
          <p:cNvPr id="2" name="Image 0" descr="/tmp/claude-0/-home-user-Store-Readiness-Walk-/ddbbaf41-3542-5514-b50e-035ebffb617f/scratchpad/deck/logo-clean.png">    </p:cNvPr>
          <p:cNvPicPr>
            <a:picLocks noChangeAspect="1"/>
          </p:cNvPicPr>
          <p:nvPr/>
        </p:nvPicPr>
        <p:blipFill>
          <a:blip r:embed="rId1"/>
          <a:stretch>
            <a:fillRect/>
          </a:stretch>
        </p:blipFill>
        <p:spPr>
          <a:xfrm>
            <a:off x="10927080" y="292608"/>
            <a:ext cx="914400" cy="69677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234440"/>
            <a:ext cx="6400800" cy="320040"/>
          </a:xfrm>
          <a:prstGeom prst="rect">
            <a:avLst/>
          </a:prstGeom>
          <a:noFill/>
          <a:ln/>
        </p:spPr>
        <p:txBody>
          <a:bodyPr wrap="square" lIns="0" tIns="0" rIns="0" bIns="0" rtlCol="0" anchor="ctr"/>
          <a:lstStyle/>
          <a:p>
            <a:pPr indent="0" marL="0">
              <a:buNone/>
            </a:pPr>
            <a:r>
              <a:rPr lang="en-US" sz="1300" b="1" spc="500" kern="0" dirty="0">
                <a:solidFill>
                  <a:schemeClr val="accent2"/>
                </a:solidFill>
                <a:latin typeface="Calibri" pitchFamily="34" charset="0"/>
                <a:ea typeface="Calibri" pitchFamily="34" charset="-122"/>
                <a:cs typeface="Calibri" pitchFamily="34" charset="-120"/>
              </a:rPr>
              <a:t>CAROLINA ZONE  ·  PROOF OF CONCEPT</a:t>
            </a:r>
            <a:endParaRPr lang="en-US" sz="1300" dirty="0"/>
          </a:p>
        </p:txBody>
      </p:sp>
      <p:sp>
        <p:nvSpPr>
          <p:cNvPr id="3" name="Title"/>
          <p:cNvSpPr txBox="1"/>
          <p:nvPr/>
        </p:nvSpPr>
        <p:spPr>
          <a:xfrm>
            <a:off x="731520" y="1645920"/>
            <a:ext cx="6583680" cy="1188720"/>
          </a:xfrm>
          <a:prstGeom prst="rect">
            <a:avLst/>
          </a:prstGeom>
          <a:noFill/>
          <a:ln/>
        </p:spPr>
        <p:txBody>
          <a:bodyPr wrap="square" lIns="0" tIns="0" rIns="0" bIns="0" rtlCol="0" anchor="ctr"/>
          <a:lstStyle/>
          <a:p>
            <a:pPr indent="0" marL="0">
              <a:buNone/>
            </a:pPr>
            <a:r>
              <a:rPr lang="en-US" sz="7200" b="1" dirty="0">
                <a:solidFill>
                  <a:schemeClr val="bg1"/>
                </a:solidFill>
                <a:latin typeface="Cambria" pitchFamily="34" charset="0"/>
                <a:ea typeface="Cambria" pitchFamily="34" charset="-122"/>
                <a:cs typeface="Cambria" pitchFamily="34" charset="-120"/>
              </a:rPr>
              <a:t>Grind Log</a:t>
            </a:r>
            <a:endParaRPr lang="en-US" sz="7200" dirty="0"/>
          </a:p>
        </p:txBody>
      </p:sp>
      <p:sp>
        <p:nvSpPr>
          <p:cNvPr id="4" name="Subtitle"/>
          <p:cNvSpPr txBox="1"/>
          <p:nvPr/>
        </p:nvSpPr>
        <p:spPr>
          <a:xfrm>
            <a:off x="731520" y="2880360"/>
            <a:ext cx="6217920" cy="822960"/>
          </a:xfrm>
          <a:prstGeom prst="rect">
            <a:avLst/>
          </a:prstGeom>
          <a:noFill/>
          <a:ln/>
        </p:spPr>
        <p:txBody>
          <a:bodyPr wrap="square" lIns="0" tIns="0" rIns="0" bIns="0" rtlCol="0" anchor="ctr"/>
          <a:lstStyle/>
          <a:p>
            <a:pPr indent="0" marL="0">
              <a:buNone/>
            </a:pPr>
            <a:r>
              <a:rPr lang="en-US" sz="2400" dirty="0">
                <a:solidFill>
                  <a:srgbClr val="C9D3E6"/>
                </a:solidFill>
                <a:latin typeface="Calibri" pitchFamily="34" charset="0"/>
                <a:ea typeface="Calibri" pitchFamily="34" charset="-122"/>
                <a:cs typeface="Calibri" pitchFamily="34" charset="-120"/>
              </a:rPr>
              <a:t>Digital ground beef traceability for DeCA commissaries</a:t>
            </a:r>
            <a:endParaRPr lang="en-US" sz="2400" dirty="0"/>
          </a:p>
        </p:txBody>
      </p:sp>
      <p:sp>
        <p:nvSpPr>
          <p:cNvPr id="5" name="Tagline"/>
          <p:cNvSpPr txBox="1"/>
          <p:nvPr/>
        </p:nvSpPr>
        <p:spPr>
          <a:xfrm>
            <a:off x="731520" y="3977640"/>
            <a:ext cx="621792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Scan</a:t>
            </a:r>
            <a:pPr indent="0" marL="0">
              <a:buNone/>
            </a:pPr>
            <a:r>
              <a:rPr lang="en-US" sz="1800" dirty="0">
                <a:solidFill>
                  <a:srgbClr val="C9A227"/>
                </a:solidFill>
                <a:latin typeface="Calibri" pitchFamily="34" charset="0"/>
                <a:ea typeface="Calibri" pitchFamily="34" charset="-122"/>
                <a:cs typeface="Calibri" pitchFamily="34" charset="-120"/>
              </a:rPr>
              <a:t>   ·   </a:t>
            </a:r>
            <a:pPr indent="0" marL="0">
              <a:buNone/>
            </a:pPr>
            <a:r>
              <a:rPr lang="en-US" sz="1800" b="1" dirty="0">
                <a:solidFill>
                  <a:srgbClr val="FFFFFF"/>
                </a:solidFill>
                <a:latin typeface="Calibri" pitchFamily="34" charset="0"/>
                <a:ea typeface="Calibri" pitchFamily="34" charset="-122"/>
                <a:cs typeface="Calibri" pitchFamily="34" charset="-120"/>
              </a:rPr>
              <a:t>Verify</a:t>
            </a:r>
            <a:pPr indent="0" marL="0">
              <a:buNone/>
            </a:pPr>
            <a:r>
              <a:rPr lang="en-US" sz="1800" dirty="0">
                <a:solidFill>
                  <a:srgbClr val="C9A227"/>
                </a:solidFill>
                <a:latin typeface="Calibri" pitchFamily="34" charset="0"/>
                <a:ea typeface="Calibri" pitchFamily="34" charset="-122"/>
                <a:cs typeface="Calibri" pitchFamily="34" charset="-120"/>
              </a:rPr>
              <a:t>   ·   </a:t>
            </a:r>
            <a:pPr indent="0" marL="0">
              <a:buNone/>
            </a:pPr>
            <a:r>
              <a:rPr lang="en-US" sz="1800" b="1" dirty="0">
                <a:solidFill>
                  <a:srgbClr val="FFFFFF"/>
                </a:solidFill>
                <a:latin typeface="Calibri" pitchFamily="34" charset="0"/>
                <a:ea typeface="Calibri" pitchFamily="34" charset="-122"/>
                <a:cs typeface="Calibri" pitchFamily="34" charset="-120"/>
              </a:rPr>
              <a:t>Save</a:t>
            </a:r>
            <a:pPr indent="0" marL="0">
              <a:buNone/>
            </a:pPr>
            <a:r>
              <a:rPr lang="en-US" sz="1800" dirty="0">
                <a:solidFill>
                  <a:srgbClr val="C9A227"/>
                </a:solidFill>
                <a:latin typeface="Calibri" pitchFamily="34" charset="0"/>
                <a:ea typeface="Calibri" pitchFamily="34" charset="-122"/>
                <a:cs typeface="Calibri" pitchFamily="34" charset="-120"/>
              </a:rPr>
              <a:t>   ·   </a:t>
            </a:r>
            <a:pPr indent="0" marL="0">
              <a:buNone/>
            </a:pPr>
            <a:r>
              <a:rPr lang="en-US" sz="1800" b="1" dirty="0">
                <a:solidFill>
                  <a:srgbClr val="FFFFFF"/>
                </a:solidFill>
                <a:latin typeface="Calibri" pitchFamily="34" charset="0"/>
                <a:ea typeface="Calibri" pitchFamily="34" charset="-122"/>
                <a:cs typeface="Calibri" pitchFamily="34" charset="-120"/>
              </a:rPr>
              <a:t>Print</a:t>
            </a:r>
            <a:endParaRPr lang="en-US" sz="1800" dirty="0"/>
          </a:p>
        </p:txBody>
      </p:sp>
      <p:sp>
        <p:nvSpPr>
          <p:cNvPr id="6" name="Presenter"/>
          <p:cNvSpPr txBox="1"/>
          <p:nvPr/>
        </p:nvSpPr>
        <p:spPr>
          <a:xfrm>
            <a:off x="731520" y="5394960"/>
            <a:ext cx="6217920" cy="640080"/>
          </a:xfrm>
          <a:prstGeom prst="rect">
            <a:avLst/>
          </a:prstGeom>
          <a:noFill/>
          <a:ln/>
        </p:spPr>
        <p:txBody>
          <a:bodyPr wrap="square" lIns="0" tIns="0" rIns="0" bIns="0" rtlCol="0" anchor="ctr"/>
          <a:lstStyle/>
          <a:p>
            <a:pPr indent="0" marL="0">
              <a:spcAft>
                <a:spcPts val="200"/>
              </a:spcAft>
              <a:buNone/>
            </a:pPr>
            <a:r>
              <a:rPr lang="en-US" sz="1300" dirty="0">
                <a:solidFill>
                  <a:srgbClr val="9AA6BF"/>
                </a:solidFill>
                <a:latin typeface="Calibri" pitchFamily="34" charset="0"/>
                <a:ea typeface="Calibri" pitchFamily="34" charset="-122"/>
                <a:cs typeface="Calibri" pitchFamily="34" charset="-120"/>
              </a:rPr>
              <a:t>Presented by: Zone Manager, Carolina Zone</a:t>
            </a:r>
            <a:endParaRPr lang="en-US" sz="1300" dirty="0"/>
          </a:p>
          <a:p>
            <a:pPr indent="0" marL="0">
              <a:spcAft>
                <a:spcPts val="200"/>
              </a:spcAft>
              <a:buNone/>
            </a:pPr>
            <a:r>
              <a:rPr lang="en-US" sz="1300" dirty="0">
                <a:solidFill>
                  <a:srgbClr val="9AA6BF"/>
                </a:solidFill>
                <a:latin typeface="Calibri" pitchFamily="34" charset="0"/>
                <a:ea typeface="Calibri" pitchFamily="34" charset="-122"/>
                <a:cs typeface="Calibri" pitchFamily="34" charset="-120"/>
              </a:rPr>
              <a:t>Defense Commissary Agency  ·  October 2026</a:t>
            </a:r>
            <a:endParaRPr lang="en-US" sz="1300" dirty="0"/>
          </a:p>
        </p:txBody>
      </p:sp>
      <p:sp>
        <p:nvSpPr>
          <p:cNvPr id="7" name="App home screen frame"/>
          <p:cNvSpPr/>
          <p:nvPr/>
        </p:nvSpPr>
        <p:spPr>
          <a:xfrm>
            <a:off x="8147304" y="877824"/>
            <a:ext cx="2657524" cy="5559552"/>
          </a:xfrm>
          <a:prstGeom prst="roundRect">
            <a:avLst>
              <a:gd name="adj" fmla="val 9634"/>
            </a:avLst>
          </a:prstGeom>
          <a:solidFill>
            <a:srgbClr val="0B1220"/>
          </a:solidFill>
          <a:ln w="12700">
            <a:solidFill>
              <a:srgbClr val="2A3550"/>
            </a:solidFill>
            <a:prstDash val="solid"/>
          </a:ln>
          <a:effectLst>
            <a:outerShdw sx="100000" sy="100000" kx="0" ky="0" algn="bl" rotWithShape="0" blurRad="228600" dist="76200" dir="5400000">
              <a:srgbClr val="000000">
                <a:alpha val="35000"/>
              </a:srgbClr>
            </a:outerShdw>
          </a:effectLst>
        </p:spPr>
      </p:sp>
      <p:pic>
        <p:nvPicPr>
          <p:cNvPr id="8" name="App home screen" descr="App home screen">    </p:cNvPr>
          <p:cNvPicPr>
            <a:picLocks noChangeAspect="1"/>
          </p:cNvPicPr>
          <p:nvPr/>
        </p:nvPicPr>
        <p:blipFill>
          <a:blip r:embed="rId1"/>
          <a:stretch>
            <a:fillRect/>
          </a:stretch>
        </p:blipFill>
        <p:spPr>
          <a:xfrm>
            <a:off x="8229600" y="960120"/>
            <a:ext cx="2492932" cy="5394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01  ·  THE STAKES</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When a recall hits, every minute counts</a:t>
            </a:r>
            <a:endParaRPr lang="en-US" sz="3400" dirty="0"/>
          </a:p>
        </p:txBody>
      </p:sp>
      <p:sp>
        <p:nvSpPr>
          <p:cNvPr id="4" name="Key statement"/>
          <p:cNvSpPr txBox="1"/>
          <p:nvPr/>
        </p:nvSpPr>
        <p:spPr>
          <a:xfrm>
            <a:off x="640080" y="2011680"/>
            <a:ext cx="4480560" cy="2011680"/>
          </a:xfrm>
          <a:prstGeom prst="rect">
            <a:avLst/>
          </a:prstGeom>
          <a:noFill/>
          <a:ln/>
        </p:spPr>
        <p:txBody>
          <a:bodyPr wrap="square" lIns="0" tIns="0" rIns="0" bIns="0" rtlCol="0" anchor="t"/>
          <a:lstStyle/>
          <a:p>
            <a:pPr indent="0" marL="0">
              <a:buNone/>
            </a:pPr>
            <a:r>
              <a:rPr lang="en-US" sz="2600" i="1" dirty="0">
                <a:solidFill>
                  <a:schemeClr val="tx2"/>
                </a:solidFill>
                <a:latin typeface="Cambria" pitchFamily="34" charset="0"/>
                <a:ea typeface="Cambria" pitchFamily="34" charset="-122"/>
                <a:cs typeface="Cambria" pitchFamily="34" charset="-120"/>
              </a:rPr>
              <a:t>The grinding log is the only link between the ground beef in our case and the supplier box it came from.</a:t>
            </a:r>
            <a:endParaRPr lang="en-US" sz="2600" dirty="0"/>
          </a:p>
        </p:txBody>
      </p:sp>
      <p:sp>
        <p:nvSpPr>
          <p:cNvPr id="5" name="Supporting text"/>
          <p:cNvSpPr txBox="1"/>
          <p:nvPr/>
        </p:nvSpPr>
        <p:spPr>
          <a:xfrm>
            <a:off x="640080" y="4251960"/>
            <a:ext cx="4206240" cy="1280160"/>
          </a:xfrm>
          <a:prstGeom prst="rect">
            <a:avLst/>
          </a:prstGeom>
          <a:noFill/>
          <a:ln/>
        </p:spPr>
        <p:txBody>
          <a:bodyPr wrap="square" lIns="0" tIns="0" rIns="0" bIns="0" rtlCol="0" anchor="t"/>
          <a:lstStyle/>
          <a:p>
            <a:pPr indent="0" marL="0">
              <a:buNone/>
            </a:pPr>
            <a:r>
              <a:rPr lang="en-US" sz="1500" dirty="0">
                <a:solidFill>
                  <a:schemeClr val="accent6"/>
                </a:solidFill>
                <a:latin typeface="Calibri" pitchFamily="34" charset="0"/>
                <a:ea typeface="Calibri" pitchFamily="34" charset="-122"/>
                <a:cs typeface="Calibri" pitchFamily="34" charset="-120"/>
              </a:rPr>
              <a:t>Without an accurate log, a store cannot prove which product is affected, and may have to pull far more than necessary, or miss what it should pull.</a:t>
            </a:r>
            <a:endParaRPr lang="en-US" sz="1500" dirty="0"/>
          </a:p>
        </p:txBody>
      </p:sp>
      <p:sp>
        <p:nvSpPr>
          <p:cNvPr id="6" name="Recall response card"/>
          <p:cNvSpPr/>
          <p:nvPr/>
        </p:nvSpPr>
        <p:spPr>
          <a:xfrm>
            <a:off x="5669280" y="1874520"/>
            <a:ext cx="5897880" cy="1298448"/>
          </a:xfrm>
          <a:prstGeom prst="roundRect">
            <a:avLst>
              <a:gd name="adj" fmla="val 8451"/>
            </a:avLst>
          </a:prstGeom>
          <a:solidFill>
            <a:schemeClr val="bg2"/>
          </a:solidFill>
          <a:ln w="12700">
            <a:solidFill>
              <a:schemeClr val="bg2"/>
            </a:solidFill>
            <a:prstDash val="solid"/>
          </a:ln>
        </p:spPr>
      </p:sp>
      <p:sp>
        <p:nvSpPr>
          <p:cNvPr id="7" name="Recall response circle"/>
          <p:cNvSpPr/>
          <p:nvPr/>
        </p:nvSpPr>
        <p:spPr>
          <a:xfrm>
            <a:off x="5897880" y="2176272"/>
            <a:ext cx="694944" cy="694944"/>
          </a:xfrm>
          <a:prstGeom prst="ellipse">
            <a:avLst/>
          </a:prstGeom>
          <a:solidFill>
            <a:srgbClr val="14213D"/>
          </a:solidFill>
          <a:ln w="12700">
            <a:solidFill>
              <a:srgbClr val="14213D"/>
            </a:solidFill>
            <a:prstDash val="solid"/>
          </a:ln>
        </p:spPr>
      </p:sp>
      <p:pic>
        <p:nvPicPr>
          <p:cNvPr id="8" name="Recall response icon" descr="preencoded.png">    </p:cNvPr>
          <p:cNvPicPr>
            <a:picLocks noChangeAspect="1"/>
          </p:cNvPicPr>
          <p:nvPr/>
        </p:nvPicPr>
        <p:blipFill>
          <a:blip r:embed="rId1"/>
          <a:stretch>
            <a:fillRect/>
          </a:stretch>
        </p:blipFill>
        <p:spPr>
          <a:xfrm>
            <a:off x="6085515" y="2363907"/>
            <a:ext cx="319674" cy="319674"/>
          </a:xfrm>
          <a:prstGeom prst="rect">
            <a:avLst/>
          </a:prstGeom>
        </p:spPr>
      </p:pic>
      <p:sp>
        <p:nvSpPr>
          <p:cNvPr id="9" name="Recall response heading"/>
          <p:cNvSpPr txBox="1"/>
          <p:nvPr/>
        </p:nvSpPr>
        <p:spPr>
          <a:xfrm>
            <a:off x="6812280" y="2029968"/>
            <a:ext cx="457200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Recall response</a:t>
            </a:r>
            <a:endParaRPr lang="en-US" sz="1700" dirty="0"/>
          </a:p>
        </p:txBody>
      </p:sp>
      <p:sp>
        <p:nvSpPr>
          <p:cNvPr id="10" name="Recall response body"/>
          <p:cNvSpPr txBox="1"/>
          <p:nvPr/>
        </p:nvSpPr>
        <p:spPr>
          <a:xfrm>
            <a:off x="6812280" y="2377440"/>
            <a:ext cx="4572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Identify affected product by supplier, establishment number and pack date, and remove it quickly.</a:t>
            </a:r>
            <a:endParaRPr lang="en-US" sz="1300" dirty="0"/>
          </a:p>
        </p:txBody>
      </p:sp>
      <p:sp>
        <p:nvSpPr>
          <p:cNvPr id="11" name="Federal requirement card"/>
          <p:cNvSpPr/>
          <p:nvPr/>
        </p:nvSpPr>
        <p:spPr>
          <a:xfrm>
            <a:off x="5669280" y="3355848"/>
            <a:ext cx="5897880" cy="1298448"/>
          </a:xfrm>
          <a:prstGeom prst="roundRect">
            <a:avLst>
              <a:gd name="adj" fmla="val 8451"/>
            </a:avLst>
          </a:prstGeom>
          <a:solidFill>
            <a:schemeClr val="bg2"/>
          </a:solidFill>
          <a:ln w="12700">
            <a:solidFill>
              <a:schemeClr val="bg2"/>
            </a:solidFill>
            <a:prstDash val="solid"/>
          </a:ln>
        </p:spPr>
      </p:sp>
      <p:sp>
        <p:nvSpPr>
          <p:cNvPr id="12" name="Federal requirement circle"/>
          <p:cNvSpPr/>
          <p:nvPr/>
        </p:nvSpPr>
        <p:spPr>
          <a:xfrm>
            <a:off x="5897880" y="3657600"/>
            <a:ext cx="694944" cy="694944"/>
          </a:xfrm>
          <a:prstGeom prst="ellipse">
            <a:avLst/>
          </a:prstGeom>
          <a:solidFill>
            <a:srgbClr val="14213D"/>
          </a:solidFill>
          <a:ln w="12700">
            <a:solidFill>
              <a:srgbClr val="14213D"/>
            </a:solidFill>
            <a:prstDash val="solid"/>
          </a:ln>
        </p:spPr>
      </p:sp>
      <p:pic>
        <p:nvPicPr>
          <p:cNvPr id="13" name="Federal requirement icon" descr="preencoded.png">    </p:cNvPr>
          <p:cNvPicPr>
            <a:picLocks noChangeAspect="1"/>
          </p:cNvPicPr>
          <p:nvPr/>
        </p:nvPicPr>
        <p:blipFill>
          <a:blip r:embed="rId2"/>
          <a:stretch>
            <a:fillRect/>
          </a:stretch>
        </p:blipFill>
        <p:spPr>
          <a:xfrm>
            <a:off x="6085515" y="3845235"/>
            <a:ext cx="319674" cy="319674"/>
          </a:xfrm>
          <a:prstGeom prst="rect">
            <a:avLst/>
          </a:prstGeom>
        </p:spPr>
      </p:pic>
      <p:sp>
        <p:nvSpPr>
          <p:cNvPr id="14" name="Federal requirement heading"/>
          <p:cNvSpPr txBox="1"/>
          <p:nvPr/>
        </p:nvSpPr>
        <p:spPr>
          <a:xfrm>
            <a:off x="6812280" y="3511296"/>
            <a:ext cx="457200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Federal requirement</a:t>
            </a:r>
            <a:endParaRPr lang="en-US" sz="1700" dirty="0"/>
          </a:p>
        </p:txBody>
      </p:sp>
      <p:sp>
        <p:nvSpPr>
          <p:cNvPr id="15" name="Federal requirement body"/>
          <p:cNvSpPr txBox="1"/>
          <p:nvPr/>
        </p:nvSpPr>
        <p:spPr>
          <a:xfrm>
            <a:off x="6812280" y="3858768"/>
            <a:ext cx="4572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USDA FSIS, 9 CFR 320.1(b)(4): stores that grind raw beef must record supplier establishment numbers, lot and production dates, and cleaning and sanitizing times. Records stay at the store for one year.</a:t>
            </a:r>
            <a:endParaRPr lang="en-US" sz="1300" dirty="0"/>
          </a:p>
        </p:txBody>
      </p:sp>
      <p:sp>
        <p:nvSpPr>
          <p:cNvPr id="16" name="DeCA requirement card"/>
          <p:cNvSpPr/>
          <p:nvPr/>
        </p:nvSpPr>
        <p:spPr>
          <a:xfrm>
            <a:off x="5669280" y="4837176"/>
            <a:ext cx="5897880" cy="1298448"/>
          </a:xfrm>
          <a:prstGeom prst="roundRect">
            <a:avLst>
              <a:gd name="adj" fmla="val 8451"/>
            </a:avLst>
          </a:prstGeom>
          <a:solidFill>
            <a:schemeClr val="bg2"/>
          </a:solidFill>
          <a:ln w="12700">
            <a:solidFill>
              <a:schemeClr val="bg2"/>
            </a:solidFill>
            <a:prstDash val="solid"/>
          </a:ln>
        </p:spPr>
      </p:sp>
      <p:sp>
        <p:nvSpPr>
          <p:cNvPr id="17" name="DeCA requirement circle"/>
          <p:cNvSpPr/>
          <p:nvPr/>
        </p:nvSpPr>
        <p:spPr>
          <a:xfrm>
            <a:off x="5897880" y="5138928"/>
            <a:ext cx="694944" cy="694944"/>
          </a:xfrm>
          <a:prstGeom prst="ellipse">
            <a:avLst/>
          </a:prstGeom>
          <a:solidFill>
            <a:srgbClr val="14213D"/>
          </a:solidFill>
          <a:ln w="12700">
            <a:solidFill>
              <a:srgbClr val="14213D"/>
            </a:solidFill>
            <a:prstDash val="solid"/>
          </a:ln>
        </p:spPr>
      </p:sp>
      <p:pic>
        <p:nvPicPr>
          <p:cNvPr id="18" name="DeCA requirement icon" descr="preencoded.png">    </p:cNvPr>
          <p:cNvPicPr>
            <a:picLocks noChangeAspect="1"/>
          </p:cNvPicPr>
          <p:nvPr/>
        </p:nvPicPr>
        <p:blipFill>
          <a:blip r:embed="rId3"/>
          <a:stretch>
            <a:fillRect/>
          </a:stretch>
        </p:blipFill>
        <p:spPr>
          <a:xfrm>
            <a:off x="6085515" y="5326563"/>
            <a:ext cx="319674" cy="319674"/>
          </a:xfrm>
          <a:prstGeom prst="rect">
            <a:avLst/>
          </a:prstGeom>
        </p:spPr>
      </p:pic>
      <p:sp>
        <p:nvSpPr>
          <p:cNvPr id="19" name="DeCA requirement heading"/>
          <p:cNvSpPr txBox="1"/>
          <p:nvPr/>
        </p:nvSpPr>
        <p:spPr>
          <a:xfrm>
            <a:off x="6812280" y="4992624"/>
            <a:ext cx="457200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DeCA requirement</a:t>
            </a:r>
            <a:endParaRPr lang="en-US" sz="1700" dirty="0"/>
          </a:p>
        </p:txBody>
      </p:sp>
      <p:sp>
        <p:nvSpPr>
          <p:cNvPr id="20" name="DeCA requirement body"/>
          <p:cNvSpPr txBox="1"/>
          <p:nvPr/>
        </p:nvSpPr>
        <p:spPr>
          <a:xfrm>
            <a:off x="6812280" y="5340096"/>
            <a:ext cx="457200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DeCAM 40-3.1 prescribes DeCA Form 40-337, the Fresh Ground Beef Production Log / Tracking List, for every grind.</a:t>
            </a:r>
            <a:endParaRPr lang="en-US" sz="13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02  ·  TODAY</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Today, every grind is recorded by hand</a:t>
            </a:r>
            <a:endParaRPr lang="en-US" sz="3400" dirty="0"/>
          </a:p>
        </p:txBody>
      </p:sp>
      <p:sp>
        <p:nvSpPr>
          <p:cNvPr id="4" name="Code panel"/>
          <p:cNvSpPr/>
          <p:nvPr/>
        </p:nvSpPr>
        <p:spPr>
          <a:xfrm>
            <a:off x="640080" y="1874520"/>
            <a:ext cx="5577840" cy="2834640"/>
          </a:xfrm>
          <a:prstGeom prst="roundRect">
            <a:avLst>
              <a:gd name="adj" fmla="val 4516"/>
            </a:avLst>
          </a:prstGeom>
          <a:solidFill>
            <a:schemeClr val="tx2"/>
          </a:solidFill>
          <a:ln w="12700">
            <a:solidFill>
              <a:schemeClr val="tx2"/>
            </a:solidFill>
            <a:prstDash val="solid"/>
          </a:ln>
        </p:spPr>
      </p:sp>
      <p:sp>
        <p:nvSpPr>
          <p:cNvPr id="5" name="Code label"/>
          <p:cNvSpPr txBox="1"/>
          <p:nvPr/>
        </p:nvSpPr>
        <p:spPr>
          <a:xfrm>
            <a:off x="960120" y="2148840"/>
            <a:ext cx="4937760" cy="274320"/>
          </a:xfrm>
          <a:prstGeom prst="rect">
            <a:avLst/>
          </a:prstGeom>
          <a:noFill/>
          <a:ln/>
        </p:spPr>
        <p:txBody>
          <a:bodyPr wrap="square" lIns="0" tIns="0" rIns="0" bIns="0" rtlCol="0" anchor="ctr"/>
          <a:lstStyle/>
          <a:p>
            <a:pPr indent="0" marL="0">
              <a:buNone/>
            </a:pPr>
            <a:r>
              <a:rPr lang="en-US" sz="1100" b="1" spc="300" kern="0" dirty="0">
                <a:solidFill>
                  <a:schemeClr val="accent2"/>
                </a:solidFill>
                <a:latin typeface="Calibri" pitchFamily="34" charset="0"/>
                <a:ea typeface="Calibri" pitchFamily="34" charset="-122"/>
                <a:cs typeface="Calibri" pitchFamily="34" charset="-120"/>
              </a:rPr>
              <a:t>A SINGLE BOX LABEL PRODUCT CODE</a:t>
            </a:r>
            <a:endParaRPr lang="en-US" sz="1100" dirty="0"/>
          </a:p>
        </p:txBody>
      </p:sp>
      <p:sp>
        <p:nvSpPr>
          <p:cNvPr id="6" name="Code example"/>
          <p:cNvSpPr txBox="1"/>
          <p:nvPr/>
        </p:nvSpPr>
        <p:spPr>
          <a:xfrm>
            <a:off x="960120" y="2560320"/>
            <a:ext cx="4937760" cy="868680"/>
          </a:xfrm>
          <a:prstGeom prst="rect">
            <a:avLst/>
          </a:prstGeom>
          <a:noFill/>
          <a:ln/>
        </p:spPr>
        <p:txBody>
          <a:bodyPr wrap="square" lIns="0" tIns="0" rIns="0" bIns="0" rtlCol="0" anchor="ctr"/>
          <a:lstStyle/>
          <a:p>
            <a:pPr indent="0" marL="0">
              <a:buNone/>
            </a:pPr>
            <a:r>
              <a:rPr lang="en-US" sz="4000" b="1" dirty="0">
                <a:solidFill>
                  <a:schemeClr val="bg1"/>
                </a:solidFill>
                <a:latin typeface="Courier New" pitchFamily="34" charset="0"/>
                <a:ea typeface="Courier New" pitchFamily="34" charset="-122"/>
                <a:cs typeface="Courier New" pitchFamily="34" charset="-120"/>
              </a:rPr>
              <a:t>90027182001564</a:t>
            </a:r>
            <a:endParaRPr lang="en-US" sz="4000" dirty="0"/>
          </a:p>
        </p:txBody>
      </p:sp>
      <p:sp>
        <p:nvSpPr>
          <p:cNvPr id="7" name="Code caption"/>
          <p:cNvSpPr txBox="1"/>
          <p:nvPr/>
        </p:nvSpPr>
        <p:spPr>
          <a:xfrm>
            <a:off x="960120" y="3611880"/>
            <a:ext cx="4846320" cy="868680"/>
          </a:xfrm>
          <a:prstGeom prst="rect">
            <a:avLst/>
          </a:prstGeom>
          <a:noFill/>
          <a:ln/>
        </p:spPr>
        <p:txBody>
          <a:bodyPr wrap="square" lIns="0" tIns="0" rIns="0" bIns="0" rtlCol="0" anchor="t"/>
          <a:lstStyle/>
          <a:p>
            <a:pPr indent="0" marL="0">
              <a:buNone/>
            </a:pPr>
            <a:r>
              <a:rPr lang="en-US" sz="1500" dirty="0">
                <a:solidFill>
                  <a:srgbClr val="C9D3E6"/>
                </a:solidFill>
                <a:latin typeface="Calibri" pitchFamily="34" charset="0"/>
                <a:ea typeface="Calibri" pitchFamily="34" charset="-122"/>
                <a:cs typeface="Calibri" pitchFamily="34" charset="-120"/>
              </a:rPr>
              <a:t>14 digits copied by hand, along with the pack date and establishment number, for every box, in every grind.</a:t>
            </a:r>
            <a:endParaRPr lang="en-US" sz="1500" dirty="0"/>
          </a:p>
        </p:txBody>
      </p:sp>
      <p:sp>
        <p:nvSpPr>
          <p:cNvPr id="8" name="Read the box label circle"/>
          <p:cNvSpPr/>
          <p:nvPr/>
        </p:nvSpPr>
        <p:spPr>
          <a:xfrm>
            <a:off x="6720840" y="1947672"/>
            <a:ext cx="603504" cy="603504"/>
          </a:xfrm>
          <a:prstGeom prst="ellipse">
            <a:avLst/>
          </a:prstGeom>
          <a:solidFill>
            <a:srgbClr val="F1F3F6"/>
          </a:solidFill>
          <a:ln w="12700">
            <a:solidFill>
              <a:srgbClr val="F1F3F6"/>
            </a:solidFill>
            <a:prstDash val="solid"/>
          </a:ln>
        </p:spPr>
      </p:sp>
      <p:pic>
        <p:nvPicPr>
          <p:cNvPr id="9" name="Read the box label icon" descr="preencoded.png">    </p:cNvPr>
          <p:cNvPicPr>
            <a:picLocks noChangeAspect="1"/>
          </p:cNvPicPr>
          <p:nvPr/>
        </p:nvPicPr>
        <p:blipFill>
          <a:blip r:embed="rId1"/>
          <a:stretch>
            <a:fillRect/>
          </a:stretch>
        </p:blipFill>
        <p:spPr>
          <a:xfrm>
            <a:off x="6883786" y="2110618"/>
            <a:ext cx="277612" cy="277612"/>
          </a:xfrm>
          <a:prstGeom prst="rect">
            <a:avLst/>
          </a:prstGeom>
        </p:spPr>
      </p:pic>
      <p:sp>
        <p:nvSpPr>
          <p:cNvPr id="10" name="Read the box label heading"/>
          <p:cNvSpPr txBox="1"/>
          <p:nvPr/>
        </p:nvSpPr>
        <p:spPr>
          <a:xfrm>
            <a:off x="7543800" y="1874520"/>
            <a:ext cx="4023360" cy="329184"/>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Read the box label</a:t>
            </a:r>
            <a:endParaRPr lang="en-US" sz="1700" dirty="0"/>
          </a:p>
        </p:txBody>
      </p:sp>
      <p:sp>
        <p:nvSpPr>
          <p:cNvPr id="11" name="Read the box label body"/>
          <p:cNvSpPr txBox="1"/>
          <p:nvPr/>
        </p:nvSpPr>
        <p:spPr>
          <a:xfrm>
            <a:off x="7543800" y="2221992"/>
            <a:ext cx="40233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Find the product code, pack date and establishment number among many printed numbers.</a:t>
            </a:r>
            <a:endParaRPr lang="en-US" sz="1300" dirty="0"/>
          </a:p>
        </p:txBody>
      </p:sp>
      <p:sp>
        <p:nvSpPr>
          <p:cNvPr id="12" name="Copy it by hand circle"/>
          <p:cNvSpPr/>
          <p:nvPr/>
        </p:nvSpPr>
        <p:spPr>
          <a:xfrm>
            <a:off x="6720840" y="2907792"/>
            <a:ext cx="603504" cy="603504"/>
          </a:xfrm>
          <a:prstGeom prst="ellipse">
            <a:avLst/>
          </a:prstGeom>
          <a:solidFill>
            <a:srgbClr val="F1F3F6"/>
          </a:solidFill>
          <a:ln w="12700">
            <a:solidFill>
              <a:srgbClr val="F1F3F6"/>
            </a:solidFill>
            <a:prstDash val="solid"/>
          </a:ln>
        </p:spPr>
      </p:sp>
      <p:pic>
        <p:nvPicPr>
          <p:cNvPr id="13" name="Copy it by hand icon" descr="preencoded.png">    </p:cNvPr>
          <p:cNvPicPr>
            <a:picLocks noChangeAspect="1"/>
          </p:cNvPicPr>
          <p:nvPr/>
        </p:nvPicPr>
        <p:blipFill>
          <a:blip r:embed="rId2"/>
          <a:stretch>
            <a:fillRect/>
          </a:stretch>
        </p:blipFill>
        <p:spPr>
          <a:xfrm>
            <a:off x="6883786" y="3070738"/>
            <a:ext cx="277612" cy="277612"/>
          </a:xfrm>
          <a:prstGeom prst="rect">
            <a:avLst/>
          </a:prstGeom>
        </p:spPr>
      </p:pic>
      <p:sp>
        <p:nvSpPr>
          <p:cNvPr id="14" name="Copy it by hand heading"/>
          <p:cNvSpPr txBox="1"/>
          <p:nvPr/>
        </p:nvSpPr>
        <p:spPr>
          <a:xfrm>
            <a:off x="7543800" y="2834640"/>
            <a:ext cx="4023360" cy="329184"/>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Copy it by hand</a:t>
            </a:r>
            <a:endParaRPr lang="en-US" sz="1700" dirty="0"/>
          </a:p>
        </p:txBody>
      </p:sp>
      <p:sp>
        <p:nvSpPr>
          <p:cNvPr id="15" name="Copy it by hand body"/>
          <p:cNvSpPr txBox="1"/>
          <p:nvPr/>
        </p:nvSpPr>
        <p:spPr>
          <a:xfrm>
            <a:off x="7543800" y="3182112"/>
            <a:ext cx="40233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Write each value onto the paper Form 40-337, box after box.</a:t>
            </a:r>
            <a:endParaRPr lang="en-US" sz="1300" dirty="0"/>
          </a:p>
        </p:txBody>
      </p:sp>
      <p:sp>
        <p:nvSpPr>
          <p:cNvPr id="16" name="File the paper circle"/>
          <p:cNvSpPr/>
          <p:nvPr/>
        </p:nvSpPr>
        <p:spPr>
          <a:xfrm>
            <a:off x="6720840" y="3867912"/>
            <a:ext cx="603504" cy="603504"/>
          </a:xfrm>
          <a:prstGeom prst="ellipse">
            <a:avLst/>
          </a:prstGeom>
          <a:solidFill>
            <a:srgbClr val="F1F3F6"/>
          </a:solidFill>
          <a:ln w="12700">
            <a:solidFill>
              <a:srgbClr val="F1F3F6"/>
            </a:solidFill>
            <a:prstDash val="solid"/>
          </a:ln>
        </p:spPr>
      </p:sp>
      <p:pic>
        <p:nvPicPr>
          <p:cNvPr id="17" name="File the paper icon" descr="preencoded.png">    </p:cNvPr>
          <p:cNvPicPr>
            <a:picLocks noChangeAspect="1"/>
          </p:cNvPicPr>
          <p:nvPr/>
        </p:nvPicPr>
        <p:blipFill>
          <a:blip r:embed="rId3"/>
          <a:stretch>
            <a:fillRect/>
          </a:stretch>
        </p:blipFill>
        <p:spPr>
          <a:xfrm>
            <a:off x="6883786" y="4030858"/>
            <a:ext cx="277612" cy="277612"/>
          </a:xfrm>
          <a:prstGeom prst="rect">
            <a:avLst/>
          </a:prstGeom>
        </p:spPr>
      </p:pic>
      <p:sp>
        <p:nvSpPr>
          <p:cNvPr id="18" name="File the paper heading"/>
          <p:cNvSpPr txBox="1"/>
          <p:nvPr/>
        </p:nvSpPr>
        <p:spPr>
          <a:xfrm>
            <a:off x="7543800" y="3794760"/>
            <a:ext cx="4023360" cy="329184"/>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File the paper</a:t>
            </a:r>
            <a:endParaRPr lang="en-US" sz="1700" dirty="0"/>
          </a:p>
        </p:txBody>
      </p:sp>
      <p:sp>
        <p:nvSpPr>
          <p:cNvPr id="19" name="File the paper body"/>
          <p:cNvSpPr txBox="1"/>
          <p:nvPr/>
        </p:nvSpPr>
        <p:spPr>
          <a:xfrm>
            <a:off x="7543800" y="4142232"/>
            <a:ext cx="402336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Store the sheet in a binder in the meat department, kept for one year.</a:t>
            </a:r>
            <a:endParaRPr lang="en-US" sz="1300" dirty="0"/>
          </a:p>
        </p:txBody>
      </p:sp>
      <p:sp>
        <p:nvSpPr>
          <p:cNvPr id="20" name="Takeaway"/>
          <p:cNvSpPr txBox="1"/>
          <p:nvPr/>
        </p:nvSpPr>
        <p:spPr>
          <a:xfrm>
            <a:off x="640080" y="5120640"/>
            <a:ext cx="10881360" cy="731520"/>
          </a:xfrm>
          <a:prstGeom prst="rect">
            <a:avLst/>
          </a:prstGeom>
          <a:noFill/>
          <a:ln/>
        </p:spPr>
        <p:txBody>
          <a:bodyPr wrap="square" lIns="0" tIns="0" rIns="0" bIns="0" rtlCol="0" anchor="ctr"/>
          <a:lstStyle/>
          <a:p>
            <a:pPr indent="0" marL="0">
              <a:buNone/>
            </a:pPr>
            <a:r>
              <a:rPr lang="en-US" sz="1600" i="1" dirty="0">
                <a:solidFill>
                  <a:schemeClr val="accent6"/>
                </a:solidFill>
                <a:latin typeface="Calibri" pitchFamily="34" charset="0"/>
                <a:ea typeface="Calibri" pitchFamily="34" charset="-122"/>
                <a:cs typeface="Calibri" pitchFamily="34" charset="-120"/>
              </a:rPr>
              <a:t>The process works, but it depends entirely on careful handwriting under time pressure, with cold hands, in a busy meat room.</a:t>
            </a:r>
            <a:endParaRPr lang="en-US" sz="1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03  ·  THE RISK</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Handwritten logs invite human error</a:t>
            </a:r>
            <a:endParaRPr lang="en-US" sz="3400" dirty="0"/>
          </a:p>
        </p:txBody>
      </p:sp>
      <p:sp>
        <p:nvSpPr>
          <p:cNvPr id="4" name="Label caption"/>
          <p:cNvSpPr txBox="1"/>
          <p:nvPr/>
        </p:nvSpPr>
        <p:spPr>
          <a:xfrm>
            <a:off x="640080" y="1874520"/>
            <a:ext cx="2743200" cy="274320"/>
          </a:xfrm>
          <a:prstGeom prst="rect">
            <a:avLst/>
          </a:prstGeom>
          <a:noFill/>
          <a:ln/>
        </p:spPr>
        <p:txBody>
          <a:bodyPr wrap="square" lIns="0" tIns="0" rIns="0" bIns="0" rtlCol="0" anchor="ctr"/>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ON THE LABEL</a:t>
            </a:r>
            <a:endParaRPr lang="en-US" sz="1100" dirty="0"/>
          </a:p>
        </p:txBody>
      </p:sp>
      <p:sp>
        <p:nvSpPr>
          <p:cNvPr id="5" name="Label code"/>
          <p:cNvSpPr txBox="1"/>
          <p:nvPr/>
        </p:nvSpPr>
        <p:spPr>
          <a:xfrm>
            <a:off x="640080" y="2148840"/>
            <a:ext cx="5120640" cy="640080"/>
          </a:xfrm>
          <a:prstGeom prst="rect">
            <a:avLst/>
          </a:prstGeom>
          <a:noFill/>
          <a:ln/>
        </p:spPr>
        <p:txBody>
          <a:bodyPr wrap="square" lIns="0" tIns="0" rIns="0" bIns="0" rtlCol="0" anchor="ctr"/>
          <a:lstStyle/>
          <a:p>
            <a:pPr indent="0" marL="0">
              <a:buNone/>
            </a:pPr>
            <a:r>
              <a:rPr lang="en-US" sz="3600" b="1" dirty="0">
                <a:solidFill>
                  <a:schemeClr val="tx2"/>
                </a:solidFill>
                <a:latin typeface="Courier New" pitchFamily="34" charset="0"/>
                <a:ea typeface="Courier New" pitchFamily="34" charset="-122"/>
                <a:cs typeface="Courier New" pitchFamily="34" charset="-120"/>
              </a:rPr>
              <a:t>90027182001564</a:t>
            </a:r>
            <a:endParaRPr lang="en-US" sz="3600" dirty="0"/>
          </a:p>
        </p:txBody>
      </p:sp>
      <p:sp>
        <p:nvSpPr>
          <p:cNvPr id="6" name="Written caption"/>
          <p:cNvSpPr txBox="1"/>
          <p:nvPr/>
        </p:nvSpPr>
        <p:spPr>
          <a:xfrm>
            <a:off x="6309360" y="1874520"/>
            <a:ext cx="3200400" cy="274320"/>
          </a:xfrm>
          <a:prstGeom prst="rect">
            <a:avLst/>
          </a:prstGeom>
          <a:noFill/>
          <a:ln/>
        </p:spPr>
        <p:txBody>
          <a:bodyPr wrap="square" lIns="0" tIns="0" rIns="0" bIns="0" rtlCol="0" anchor="ctr"/>
          <a:lstStyle/>
          <a:p>
            <a:pPr indent="0" marL="0">
              <a:buNone/>
            </a:pPr>
            <a:r>
              <a:rPr lang="en-US" sz="1100" b="1" spc="300" kern="0" dirty="0">
                <a:solidFill>
                  <a:schemeClr val="accent6"/>
                </a:solidFill>
                <a:latin typeface="Calibri" pitchFamily="34" charset="0"/>
                <a:ea typeface="Calibri" pitchFamily="34" charset="-122"/>
                <a:cs typeface="Calibri" pitchFamily="34" charset="-120"/>
              </a:rPr>
              <a:t>WRITTEN ON THE LOG</a:t>
            </a:r>
            <a:endParaRPr lang="en-US" sz="1100" dirty="0"/>
          </a:p>
        </p:txBody>
      </p:sp>
      <p:sp>
        <p:nvSpPr>
          <p:cNvPr id="7" name="Written code"/>
          <p:cNvSpPr txBox="1"/>
          <p:nvPr/>
        </p:nvSpPr>
        <p:spPr>
          <a:xfrm>
            <a:off x="6309360" y="2148840"/>
            <a:ext cx="5120640" cy="640080"/>
          </a:xfrm>
          <a:prstGeom prst="rect">
            <a:avLst/>
          </a:prstGeom>
          <a:noFill/>
          <a:ln/>
        </p:spPr>
        <p:txBody>
          <a:bodyPr wrap="square" lIns="0" tIns="0" rIns="0" bIns="0" rtlCol="0" anchor="ctr"/>
          <a:lstStyle/>
          <a:p>
            <a:pPr indent="0" marL="0">
              <a:buNone/>
            </a:pPr>
            <a:r>
              <a:rPr lang="en-US" sz="3600" b="1" dirty="0">
                <a:solidFill>
                  <a:srgbClr val="14213D"/>
                </a:solidFill>
                <a:latin typeface="Courier New" pitchFamily="34" charset="0"/>
                <a:ea typeface="Courier New" pitchFamily="34" charset="-122"/>
                <a:cs typeface="Courier New" pitchFamily="34" charset="-120"/>
              </a:rPr>
              <a:t>900271820016</a:t>
            </a:r>
            <a:pPr indent="0" marL="0">
              <a:buNone/>
            </a:pPr>
            <a:r>
              <a:rPr lang="en-US" sz="3600" b="1" u="sng" dirty="0">
                <a:solidFill>
                  <a:srgbClr val="B42318"/>
                </a:solidFill>
                <a:uFill>
                  <a:solidFill>
                    <a:srgbClr val="B42318"/>
                  </a:solidFill>
                </a:uFill>
                <a:latin typeface="Courier New" pitchFamily="34" charset="0"/>
                <a:ea typeface="Courier New" pitchFamily="34" charset="-122"/>
                <a:cs typeface="Courier New" pitchFamily="34" charset="-120"/>
              </a:rPr>
              <a:t>45</a:t>
            </a:r>
            <a:endParaRPr lang="en-US" sz="3600" dirty="0"/>
          </a:p>
        </p:txBody>
      </p:sp>
      <p:sp>
        <p:nvSpPr>
          <p:cNvPr id="8" name="Transposition note"/>
          <p:cNvSpPr txBox="1"/>
          <p:nvPr/>
        </p:nvSpPr>
        <p:spPr>
          <a:xfrm>
            <a:off x="640080" y="2880360"/>
            <a:ext cx="10881360" cy="411480"/>
          </a:xfrm>
          <a:prstGeom prst="rect">
            <a:avLst/>
          </a:prstGeom>
          <a:noFill/>
          <a:ln/>
        </p:spPr>
        <p:txBody>
          <a:bodyPr wrap="square" lIns="0" tIns="0" rIns="0" bIns="0" rtlCol="0" anchor="ctr"/>
          <a:lstStyle/>
          <a:p>
            <a:pPr indent="0" marL="0">
              <a:buNone/>
            </a:pPr>
            <a:r>
              <a:rPr lang="en-US" sz="1600" i="1" dirty="0">
                <a:solidFill>
                  <a:schemeClr val="accent4"/>
                </a:solidFill>
                <a:latin typeface="Calibri" pitchFamily="34" charset="0"/>
                <a:ea typeface="Calibri" pitchFamily="34" charset="-122"/>
                <a:cs typeface="Calibri" pitchFamily="34" charset="-120"/>
              </a:rPr>
              <a:t>Two digits swapped, and the trace now points to a product that was never in the grind.</a:t>
            </a:r>
            <a:endParaRPr lang="en-US" sz="1600" dirty="0"/>
          </a:p>
        </p:txBody>
      </p:sp>
      <p:sp>
        <p:nvSpPr>
          <p:cNvPr id="9" name="Copying mistakes tile"/>
          <p:cNvSpPr/>
          <p:nvPr/>
        </p:nvSpPr>
        <p:spPr>
          <a:xfrm>
            <a:off x="640080" y="3703320"/>
            <a:ext cx="2066544" cy="2240280"/>
          </a:xfrm>
          <a:prstGeom prst="roundRect">
            <a:avLst>
              <a:gd name="adj" fmla="val 5310"/>
            </a:avLst>
          </a:prstGeom>
          <a:solidFill>
            <a:schemeClr val="bg2"/>
          </a:solidFill>
          <a:ln w="12700">
            <a:solidFill>
              <a:schemeClr val="bg2"/>
            </a:solidFill>
            <a:prstDash val="solid"/>
          </a:ln>
        </p:spPr>
      </p:sp>
      <p:sp>
        <p:nvSpPr>
          <p:cNvPr id="10" name="Copying mistakes circle"/>
          <p:cNvSpPr/>
          <p:nvPr/>
        </p:nvSpPr>
        <p:spPr>
          <a:xfrm>
            <a:off x="868680" y="3959352"/>
            <a:ext cx="603504" cy="603504"/>
          </a:xfrm>
          <a:prstGeom prst="ellipse">
            <a:avLst/>
          </a:prstGeom>
          <a:solidFill>
            <a:srgbClr val="FBE4E2"/>
          </a:solidFill>
          <a:ln w="12700">
            <a:solidFill>
              <a:srgbClr val="FBE4E2"/>
            </a:solidFill>
            <a:prstDash val="solid"/>
          </a:ln>
        </p:spPr>
      </p:sp>
      <p:pic>
        <p:nvPicPr>
          <p:cNvPr id="11" name="Copying mistakes icon" descr="preencoded.png">    </p:cNvPr>
          <p:cNvPicPr>
            <a:picLocks noChangeAspect="1"/>
          </p:cNvPicPr>
          <p:nvPr/>
        </p:nvPicPr>
        <p:blipFill>
          <a:blip r:embed="rId1"/>
          <a:stretch>
            <a:fillRect/>
          </a:stretch>
        </p:blipFill>
        <p:spPr>
          <a:xfrm>
            <a:off x="1031626" y="4122298"/>
            <a:ext cx="277612" cy="277612"/>
          </a:xfrm>
          <a:prstGeom prst="rect">
            <a:avLst/>
          </a:prstGeom>
        </p:spPr>
      </p:pic>
      <p:sp>
        <p:nvSpPr>
          <p:cNvPr id="12" name="Copying mistakes heading"/>
          <p:cNvSpPr txBox="1"/>
          <p:nvPr/>
        </p:nvSpPr>
        <p:spPr>
          <a:xfrm>
            <a:off x="868680" y="4709160"/>
            <a:ext cx="1655064"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Copying mistakes</a:t>
            </a:r>
            <a:endParaRPr lang="en-US" sz="1600" dirty="0"/>
          </a:p>
        </p:txBody>
      </p:sp>
      <p:sp>
        <p:nvSpPr>
          <p:cNvPr id="13" name="Copying mistakes body"/>
          <p:cNvSpPr txBox="1"/>
          <p:nvPr/>
        </p:nvSpPr>
        <p:spPr>
          <a:xfrm>
            <a:off x="868680" y="5074920"/>
            <a:ext cx="1655064"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Long codes are easy to transpose or mis-key</a:t>
            </a:r>
            <a:endParaRPr lang="en-US" sz="1300" dirty="0"/>
          </a:p>
        </p:txBody>
      </p:sp>
      <p:sp>
        <p:nvSpPr>
          <p:cNvPr id="14" name="Hard to read tile"/>
          <p:cNvSpPr/>
          <p:nvPr/>
        </p:nvSpPr>
        <p:spPr>
          <a:xfrm>
            <a:off x="2843784" y="3703320"/>
            <a:ext cx="2066544" cy="2240280"/>
          </a:xfrm>
          <a:prstGeom prst="roundRect">
            <a:avLst>
              <a:gd name="adj" fmla="val 5310"/>
            </a:avLst>
          </a:prstGeom>
          <a:solidFill>
            <a:schemeClr val="bg2"/>
          </a:solidFill>
          <a:ln w="12700">
            <a:solidFill>
              <a:schemeClr val="bg2"/>
            </a:solidFill>
            <a:prstDash val="solid"/>
          </a:ln>
        </p:spPr>
      </p:sp>
      <p:sp>
        <p:nvSpPr>
          <p:cNvPr id="15" name="Hard to read circle"/>
          <p:cNvSpPr/>
          <p:nvPr/>
        </p:nvSpPr>
        <p:spPr>
          <a:xfrm>
            <a:off x="3072384" y="3959352"/>
            <a:ext cx="603504" cy="603504"/>
          </a:xfrm>
          <a:prstGeom prst="ellipse">
            <a:avLst/>
          </a:prstGeom>
          <a:solidFill>
            <a:srgbClr val="FBE4E2"/>
          </a:solidFill>
          <a:ln w="12700">
            <a:solidFill>
              <a:srgbClr val="FBE4E2"/>
            </a:solidFill>
            <a:prstDash val="solid"/>
          </a:ln>
        </p:spPr>
      </p:sp>
      <p:pic>
        <p:nvPicPr>
          <p:cNvPr id="16" name="Hard to read icon" descr="preencoded.png">    </p:cNvPr>
          <p:cNvPicPr>
            <a:picLocks noChangeAspect="1"/>
          </p:cNvPicPr>
          <p:nvPr/>
        </p:nvPicPr>
        <p:blipFill>
          <a:blip r:embed="rId2"/>
          <a:stretch>
            <a:fillRect/>
          </a:stretch>
        </p:blipFill>
        <p:spPr>
          <a:xfrm>
            <a:off x="3235330" y="4122298"/>
            <a:ext cx="277612" cy="277612"/>
          </a:xfrm>
          <a:prstGeom prst="rect">
            <a:avLst/>
          </a:prstGeom>
        </p:spPr>
      </p:pic>
      <p:sp>
        <p:nvSpPr>
          <p:cNvPr id="17" name="Hard to read heading"/>
          <p:cNvSpPr txBox="1"/>
          <p:nvPr/>
        </p:nvSpPr>
        <p:spPr>
          <a:xfrm>
            <a:off x="3072384" y="4709160"/>
            <a:ext cx="1655064"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Hard to read</a:t>
            </a:r>
            <a:endParaRPr lang="en-US" sz="1600" dirty="0"/>
          </a:p>
        </p:txBody>
      </p:sp>
      <p:sp>
        <p:nvSpPr>
          <p:cNvPr id="18" name="Hard to read body"/>
          <p:cNvSpPr txBox="1"/>
          <p:nvPr/>
        </p:nvSpPr>
        <p:spPr>
          <a:xfrm>
            <a:off x="3072384" y="5074920"/>
            <a:ext cx="1655064"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Handwriting can be illegible to an inspector</a:t>
            </a:r>
            <a:endParaRPr lang="en-US" sz="1300" dirty="0"/>
          </a:p>
        </p:txBody>
      </p:sp>
      <p:sp>
        <p:nvSpPr>
          <p:cNvPr id="19" name="Missing fields tile"/>
          <p:cNvSpPr/>
          <p:nvPr/>
        </p:nvSpPr>
        <p:spPr>
          <a:xfrm>
            <a:off x="5047488" y="3703320"/>
            <a:ext cx="2066544" cy="2240280"/>
          </a:xfrm>
          <a:prstGeom prst="roundRect">
            <a:avLst>
              <a:gd name="adj" fmla="val 5310"/>
            </a:avLst>
          </a:prstGeom>
          <a:solidFill>
            <a:schemeClr val="bg2"/>
          </a:solidFill>
          <a:ln w="12700">
            <a:solidFill>
              <a:schemeClr val="bg2"/>
            </a:solidFill>
            <a:prstDash val="solid"/>
          </a:ln>
        </p:spPr>
      </p:sp>
      <p:sp>
        <p:nvSpPr>
          <p:cNvPr id="20" name="Missing fields circle"/>
          <p:cNvSpPr/>
          <p:nvPr/>
        </p:nvSpPr>
        <p:spPr>
          <a:xfrm>
            <a:off x="5276088" y="3959352"/>
            <a:ext cx="603504" cy="603504"/>
          </a:xfrm>
          <a:prstGeom prst="ellipse">
            <a:avLst/>
          </a:prstGeom>
          <a:solidFill>
            <a:srgbClr val="FBE4E2"/>
          </a:solidFill>
          <a:ln w="12700">
            <a:solidFill>
              <a:srgbClr val="FBE4E2"/>
            </a:solidFill>
            <a:prstDash val="solid"/>
          </a:ln>
        </p:spPr>
      </p:sp>
      <p:pic>
        <p:nvPicPr>
          <p:cNvPr id="21" name="Missing fields icon" descr="preencoded.png">    </p:cNvPr>
          <p:cNvPicPr>
            <a:picLocks noChangeAspect="1"/>
          </p:cNvPicPr>
          <p:nvPr/>
        </p:nvPicPr>
        <p:blipFill>
          <a:blip r:embed="rId3"/>
          <a:stretch>
            <a:fillRect/>
          </a:stretch>
        </p:blipFill>
        <p:spPr>
          <a:xfrm>
            <a:off x="5439034" y="4122298"/>
            <a:ext cx="277612" cy="277612"/>
          </a:xfrm>
          <a:prstGeom prst="rect">
            <a:avLst/>
          </a:prstGeom>
        </p:spPr>
      </p:pic>
      <p:sp>
        <p:nvSpPr>
          <p:cNvPr id="22" name="Missing fields heading"/>
          <p:cNvSpPr txBox="1"/>
          <p:nvPr/>
        </p:nvSpPr>
        <p:spPr>
          <a:xfrm>
            <a:off x="5276088" y="4709160"/>
            <a:ext cx="1655064"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Missing fields</a:t>
            </a:r>
            <a:endParaRPr lang="en-US" sz="1600" dirty="0"/>
          </a:p>
        </p:txBody>
      </p:sp>
      <p:sp>
        <p:nvSpPr>
          <p:cNvPr id="23" name="Missing fields body"/>
          <p:cNvSpPr txBox="1"/>
          <p:nvPr/>
        </p:nvSpPr>
        <p:spPr>
          <a:xfrm>
            <a:off x="5276088" y="5074920"/>
            <a:ext cx="1655064"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Blank entries go unnoticed until needed</a:t>
            </a:r>
            <a:endParaRPr lang="en-US" sz="1300" dirty="0"/>
          </a:p>
        </p:txBody>
      </p:sp>
      <p:sp>
        <p:nvSpPr>
          <p:cNvPr id="24" name="Lost or damaged tile"/>
          <p:cNvSpPr/>
          <p:nvPr/>
        </p:nvSpPr>
        <p:spPr>
          <a:xfrm>
            <a:off x="7251192" y="3703320"/>
            <a:ext cx="2066544" cy="2240280"/>
          </a:xfrm>
          <a:prstGeom prst="roundRect">
            <a:avLst>
              <a:gd name="adj" fmla="val 5310"/>
            </a:avLst>
          </a:prstGeom>
          <a:solidFill>
            <a:schemeClr val="bg2"/>
          </a:solidFill>
          <a:ln w="12700">
            <a:solidFill>
              <a:schemeClr val="bg2"/>
            </a:solidFill>
            <a:prstDash val="solid"/>
          </a:ln>
        </p:spPr>
      </p:sp>
      <p:sp>
        <p:nvSpPr>
          <p:cNvPr id="25" name="Lost or damaged circle"/>
          <p:cNvSpPr/>
          <p:nvPr/>
        </p:nvSpPr>
        <p:spPr>
          <a:xfrm>
            <a:off x="7479792" y="3959352"/>
            <a:ext cx="603504" cy="603504"/>
          </a:xfrm>
          <a:prstGeom prst="ellipse">
            <a:avLst/>
          </a:prstGeom>
          <a:solidFill>
            <a:srgbClr val="FBE4E2"/>
          </a:solidFill>
          <a:ln w="12700">
            <a:solidFill>
              <a:srgbClr val="FBE4E2"/>
            </a:solidFill>
            <a:prstDash val="solid"/>
          </a:ln>
        </p:spPr>
      </p:sp>
      <p:pic>
        <p:nvPicPr>
          <p:cNvPr id="26" name="Lost or damaged icon" descr="preencoded.png">    </p:cNvPr>
          <p:cNvPicPr>
            <a:picLocks noChangeAspect="1"/>
          </p:cNvPicPr>
          <p:nvPr/>
        </p:nvPicPr>
        <p:blipFill>
          <a:blip r:embed="rId4"/>
          <a:stretch>
            <a:fillRect/>
          </a:stretch>
        </p:blipFill>
        <p:spPr>
          <a:xfrm>
            <a:off x="7642738" y="4122298"/>
            <a:ext cx="277612" cy="277612"/>
          </a:xfrm>
          <a:prstGeom prst="rect">
            <a:avLst/>
          </a:prstGeom>
        </p:spPr>
      </p:pic>
      <p:sp>
        <p:nvSpPr>
          <p:cNvPr id="27" name="Lost or damaged heading"/>
          <p:cNvSpPr txBox="1"/>
          <p:nvPr/>
        </p:nvSpPr>
        <p:spPr>
          <a:xfrm>
            <a:off x="7479792" y="4709160"/>
            <a:ext cx="1655064"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Lost or damaged</a:t>
            </a:r>
            <a:endParaRPr lang="en-US" sz="1600" dirty="0"/>
          </a:p>
        </p:txBody>
      </p:sp>
      <p:sp>
        <p:nvSpPr>
          <p:cNvPr id="28" name="Lost or damaged body"/>
          <p:cNvSpPr txBox="1"/>
          <p:nvPr/>
        </p:nvSpPr>
        <p:spPr>
          <a:xfrm>
            <a:off x="7479792" y="5074920"/>
            <a:ext cx="1655064"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Paper gets wet, torn or misfiled</a:t>
            </a:r>
            <a:endParaRPr lang="en-US" sz="1300" dirty="0"/>
          </a:p>
        </p:txBody>
      </p:sp>
      <p:sp>
        <p:nvSpPr>
          <p:cNvPr id="29" name="Slow to search tile"/>
          <p:cNvSpPr/>
          <p:nvPr/>
        </p:nvSpPr>
        <p:spPr>
          <a:xfrm>
            <a:off x="9454896" y="3703320"/>
            <a:ext cx="2066544" cy="2240280"/>
          </a:xfrm>
          <a:prstGeom prst="roundRect">
            <a:avLst>
              <a:gd name="adj" fmla="val 5310"/>
            </a:avLst>
          </a:prstGeom>
          <a:solidFill>
            <a:schemeClr val="bg2"/>
          </a:solidFill>
          <a:ln w="12700">
            <a:solidFill>
              <a:schemeClr val="bg2"/>
            </a:solidFill>
            <a:prstDash val="solid"/>
          </a:ln>
        </p:spPr>
      </p:sp>
      <p:sp>
        <p:nvSpPr>
          <p:cNvPr id="30" name="Slow to search circle"/>
          <p:cNvSpPr/>
          <p:nvPr/>
        </p:nvSpPr>
        <p:spPr>
          <a:xfrm>
            <a:off x="9683496" y="3959352"/>
            <a:ext cx="603504" cy="603504"/>
          </a:xfrm>
          <a:prstGeom prst="ellipse">
            <a:avLst/>
          </a:prstGeom>
          <a:solidFill>
            <a:srgbClr val="FBE4E2"/>
          </a:solidFill>
          <a:ln w="12700">
            <a:solidFill>
              <a:srgbClr val="FBE4E2"/>
            </a:solidFill>
            <a:prstDash val="solid"/>
          </a:ln>
        </p:spPr>
      </p:sp>
      <p:pic>
        <p:nvPicPr>
          <p:cNvPr id="31" name="Slow to search icon" descr="preencoded.png">    </p:cNvPr>
          <p:cNvPicPr>
            <a:picLocks noChangeAspect="1"/>
          </p:cNvPicPr>
          <p:nvPr/>
        </p:nvPicPr>
        <p:blipFill>
          <a:blip r:embed="rId5"/>
          <a:stretch>
            <a:fillRect/>
          </a:stretch>
        </p:blipFill>
        <p:spPr>
          <a:xfrm>
            <a:off x="9846442" y="4122298"/>
            <a:ext cx="277612" cy="277612"/>
          </a:xfrm>
          <a:prstGeom prst="rect">
            <a:avLst/>
          </a:prstGeom>
        </p:spPr>
      </p:pic>
      <p:sp>
        <p:nvSpPr>
          <p:cNvPr id="32" name="Slow to search heading"/>
          <p:cNvSpPr txBox="1"/>
          <p:nvPr/>
        </p:nvSpPr>
        <p:spPr>
          <a:xfrm>
            <a:off x="9683496" y="4709160"/>
            <a:ext cx="1655064"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Slow to search</a:t>
            </a:r>
            <a:endParaRPr lang="en-US" sz="1600" dirty="0"/>
          </a:p>
        </p:txBody>
      </p:sp>
      <p:sp>
        <p:nvSpPr>
          <p:cNvPr id="33" name="Slow to search body"/>
          <p:cNvSpPr txBox="1"/>
          <p:nvPr/>
        </p:nvSpPr>
        <p:spPr>
          <a:xfrm>
            <a:off x="9683496" y="5074920"/>
            <a:ext cx="1655064"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Recall lookup means paging through binders</a:t>
            </a:r>
            <a:endParaRPr lang="en-US" sz="13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04  ·  THE SOLUTION</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Grind Log puts the barcode to work</a:t>
            </a:r>
            <a:endParaRPr lang="en-US" sz="3400" dirty="0"/>
          </a:p>
        </p:txBody>
      </p:sp>
      <p:sp>
        <p:nvSpPr>
          <p:cNvPr id="4" name="Scan number circle"/>
          <p:cNvSpPr/>
          <p:nvPr/>
        </p:nvSpPr>
        <p:spPr>
          <a:xfrm>
            <a:off x="640080" y="1828800"/>
            <a:ext cx="713232" cy="713232"/>
          </a:xfrm>
          <a:prstGeom prst="ellipse">
            <a:avLst/>
          </a:prstGeom>
          <a:solidFill>
            <a:srgbClr val="C9A227"/>
          </a:solidFill>
          <a:ln w="12700">
            <a:solidFill>
              <a:srgbClr val="C9A227"/>
            </a:solidFill>
            <a:prstDash val="solid"/>
          </a:ln>
        </p:spPr>
      </p:sp>
      <p:sp>
        <p:nvSpPr>
          <p:cNvPr id="5" name="Scan number"/>
          <p:cNvSpPr txBox="1"/>
          <p:nvPr/>
        </p:nvSpPr>
        <p:spPr>
          <a:xfrm>
            <a:off x="640080" y="1828800"/>
            <a:ext cx="713232" cy="713232"/>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1</a:t>
            </a:r>
            <a:endParaRPr lang="en-US" sz="2400" dirty="0"/>
          </a:p>
        </p:txBody>
      </p:sp>
      <p:sp>
        <p:nvSpPr>
          <p:cNvPr id="6" name="Scan heading"/>
          <p:cNvSpPr txBox="1"/>
          <p:nvPr/>
        </p:nvSpPr>
        <p:spPr>
          <a:xfrm>
            <a:off x="1645920" y="1810512"/>
            <a:ext cx="5486400" cy="36576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Scan</a:t>
            </a:r>
            <a:endParaRPr lang="en-US" sz="2000" dirty="0"/>
          </a:p>
        </p:txBody>
      </p:sp>
      <p:sp>
        <p:nvSpPr>
          <p:cNvPr id="7" name="Scan body"/>
          <p:cNvSpPr txBox="1"/>
          <p:nvPr/>
        </p:nvSpPr>
        <p:spPr>
          <a:xfrm>
            <a:off x="1645920" y="2176272"/>
            <a:ext cx="5669280" cy="59436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Photograph the box label with any Android phone or iPhone. The app reads the barcode on the phone.</a:t>
            </a:r>
            <a:endParaRPr lang="en-US" sz="1400" dirty="0"/>
          </a:p>
        </p:txBody>
      </p:sp>
      <p:sp>
        <p:nvSpPr>
          <p:cNvPr id="8" name="Verify number circle"/>
          <p:cNvSpPr/>
          <p:nvPr/>
        </p:nvSpPr>
        <p:spPr>
          <a:xfrm>
            <a:off x="640080" y="2907792"/>
            <a:ext cx="713232" cy="713232"/>
          </a:xfrm>
          <a:prstGeom prst="ellipse">
            <a:avLst/>
          </a:prstGeom>
          <a:solidFill>
            <a:srgbClr val="C9A227"/>
          </a:solidFill>
          <a:ln w="12700">
            <a:solidFill>
              <a:srgbClr val="C9A227"/>
            </a:solidFill>
            <a:prstDash val="solid"/>
          </a:ln>
        </p:spPr>
      </p:sp>
      <p:sp>
        <p:nvSpPr>
          <p:cNvPr id="9" name="Verify number"/>
          <p:cNvSpPr txBox="1"/>
          <p:nvPr/>
        </p:nvSpPr>
        <p:spPr>
          <a:xfrm>
            <a:off x="640080" y="2907792"/>
            <a:ext cx="713232" cy="713232"/>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2</a:t>
            </a:r>
            <a:endParaRPr lang="en-US" sz="2400" dirty="0"/>
          </a:p>
        </p:txBody>
      </p:sp>
      <p:sp>
        <p:nvSpPr>
          <p:cNvPr id="10" name="Verify heading"/>
          <p:cNvSpPr txBox="1"/>
          <p:nvPr/>
        </p:nvSpPr>
        <p:spPr>
          <a:xfrm>
            <a:off x="1645920" y="2889504"/>
            <a:ext cx="5486400" cy="36576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Verify</a:t>
            </a:r>
            <a:endParaRPr lang="en-US" sz="2000" dirty="0"/>
          </a:p>
        </p:txBody>
      </p:sp>
      <p:sp>
        <p:nvSpPr>
          <p:cNvPr id="11" name="Verify body"/>
          <p:cNvSpPr txBox="1"/>
          <p:nvPr/>
        </p:nvSpPr>
        <p:spPr>
          <a:xfrm>
            <a:off x="1645920" y="3255264"/>
            <a:ext cx="5669280" cy="59436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Fields fill in automatically, each tagged with its source. The employee confirms against the label.</a:t>
            </a:r>
            <a:endParaRPr lang="en-US" sz="1400" dirty="0"/>
          </a:p>
        </p:txBody>
      </p:sp>
      <p:sp>
        <p:nvSpPr>
          <p:cNvPr id="12" name="Save number circle"/>
          <p:cNvSpPr/>
          <p:nvPr/>
        </p:nvSpPr>
        <p:spPr>
          <a:xfrm>
            <a:off x="640080" y="3986784"/>
            <a:ext cx="713232" cy="713232"/>
          </a:xfrm>
          <a:prstGeom prst="ellipse">
            <a:avLst/>
          </a:prstGeom>
          <a:solidFill>
            <a:srgbClr val="C9A227"/>
          </a:solidFill>
          <a:ln w="12700">
            <a:solidFill>
              <a:srgbClr val="C9A227"/>
            </a:solidFill>
            <a:prstDash val="solid"/>
          </a:ln>
        </p:spPr>
      </p:sp>
      <p:sp>
        <p:nvSpPr>
          <p:cNvPr id="13" name="Save number"/>
          <p:cNvSpPr txBox="1"/>
          <p:nvPr/>
        </p:nvSpPr>
        <p:spPr>
          <a:xfrm>
            <a:off x="640080" y="3986784"/>
            <a:ext cx="713232" cy="713232"/>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3</a:t>
            </a:r>
            <a:endParaRPr lang="en-US" sz="2400" dirty="0"/>
          </a:p>
        </p:txBody>
      </p:sp>
      <p:sp>
        <p:nvSpPr>
          <p:cNvPr id="14" name="Save heading"/>
          <p:cNvSpPr txBox="1"/>
          <p:nvPr/>
        </p:nvSpPr>
        <p:spPr>
          <a:xfrm>
            <a:off x="1645920" y="3968496"/>
            <a:ext cx="5486400" cy="36576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Save</a:t>
            </a:r>
            <a:endParaRPr lang="en-US" sz="2000" dirty="0"/>
          </a:p>
        </p:txBody>
      </p:sp>
      <p:sp>
        <p:nvSpPr>
          <p:cNvPr id="15" name="Save body"/>
          <p:cNvSpPr txBox="1"/>
          <p:nvPr/>
        </p:nvSpPr>
        <p:spPr>
          <a:xfrm>
            <a:off x="1645920" y="4334256"/>
            <a:ext cx="5669280" cy="59436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Each box is added to the grind, with cleaning and sanitizing time, date and initials.</a:t>
            </a:r>
            <a:endParaRPr lang="en-US" sz="1400" dirty="0"/>
          </a:p>
        </p:txBody>
      </p:sp>
      <p:sp>
        <p:nvSpPr>
          <p:cNvPr id="16" name="Print number circle"/>
          <p:cNvSpPr/>
          <p:nvPr/>
        </p:nvSpPr>
        <p:spPr>
          <a:xfrm>
            <a:off x="640080" y="5065776"/>
            <a:ext cx="713232" cy="713232"/>
          </a:xfrm>
          <a:prstGeom prst="ellipse">
            <a:avLst/>
          </a:prstGeom>
          <a:solidFill>
            <a:srgbClr val="C9A227"/>
          </a:solidFill>
          <a:ln w="12700">
            <a:solidFill>
              <a:srgbClr val="C9A227"/>
            </a:solidFill>
            <a:prstDash val="solid"/>
          </a:ln>
        </p:spPr>
      </p:sp>
      <p:sp>
        <p:nvSpPr>
          <p:cNvPr id="17" name="Print number"/>
          <p:cNvSpPr txBox="1"/>
          <p:nvPr/>
        </p:nvSpPr>
        <p:spPr>
          <a:xfrm>
            <a:off x="640080" y="5065776"/>
            <a:ext cx="713232" cy="713232"/>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4</a:t>
            </a:r>
            <a:endParaRPr lang="en-US" sz="2400" dirty="0"/>
          </a:p>
        </p:txBody>
      </p:sp>
      <p:sp>
        <p:nvSpPr>
          <p:cNvPr id="18" name="Print heading"/>
          <p:cNvSpPr txBox="1"/>
          <p:nvPr/>
        </p:nvSpPr>
        <p:spPr>
          <a:xfrm>
            <a:off x="1645920" y="5047488"/>
            <a:ext cx="5486400" cy="365760"/>
          </a:xfrm>
          <a:prstGeom prst="rect">
            <a:avLst/>
          </a:prstGeom>
          <a:noFill/>
          <a:ln/>
        </p:spPr>
        <p:txBody>
          <a:bodyPr wrap="square" lIns="0" tIns="0" rIns="0" bIns="0" rtlCol="0" anchor="ctr"/>
          <a:lstStyle/>
          <a:p>
            <a:pPr indent="0" marL="0">
              <a:buNone/>
            </a:pPr>
            <a:r>
              <a:rPr lang="en-US" sz="2000" b="1" dirty="0">
                <a:solidFill>
                  <a:schemeClr val="bg1"/>
                </a:solidFill>
                <a:latin typeface="Calibri" pitchFamily="34" charset="0"/>
                <a:ea typeface="Calibri" pitchFamily="34" charset="-122"/>
                <a:cs typeface="Calibri" pitchFamily="34" charset="-120"/>
              </a:rPr>
              <a:t>Print</a:t>
            </a:r>
            <a:endParaRPr lang="en-US" sz="2000" dirty="0"/>
          </a:p>
        </p:txBody>
      </p:sp>
      <p:sp>
        <p:nvSpPr>
          <p:cNvPr id="19" name="Print body"/>
          <p:cNvSpPr txBox="1"/>
          <p:nvPr/>
        </p:nvSpPr>
        <p:spPr>
          <a:xfrm>
            <a:off x="1645920" y="5413248"/>
            <a:ext cx="5669280" cy="59436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DeCA Form 40-337 is generated, ready to print, save as PDF, or email.</a:t>
            </a:r>
            <a:endParaRPr lang="en-US" sz="1400" dirty="0"/>
          </a:p>
        </p:txBody>
      </p:sp>
      <p:sp>
        <p:nvSpPr>
          <p:cNvPr id="20" name="Box review screen frame"/>
          <p:cNvSpPr/>
          <p:nvPr/>
        </p:nvSpPr>
        <p:spPr>
          <a:xfrm>
            <a:off x="8421624" y="1517904"/>
            <a:ext cx="2425132" cy="5056632"/>
          </a:xfrm>
          <a:prstGeom prst="roundRect">
            <a:avLst>
              <a:gd name="adj" fmla="val 10557"/>
            </a:avLst>
          </a:prstGeom>
          <a:solidFill>
            <a:srgbClr val="0B1220"/>
          </a:solidFill>
          <a:ln w="12700">
            <a:solidFill>
              <a:srgbClr val="2A3550"/>
            </a:solidFill>
            <a:prstDash val="solid"/>
          </a:ln>
          <a:effectLst>
            <a:outerShdw sx="100000" sy="100000" kx="0" ky="0" algn="bl" rotWithShape="0" blurRad="228600" dist="76200" dir="5400000">
              <a:srgbClr val="000000">
                <a:alpha val="35000"/>
              </a:srgbClr>
            </a:outerShdw>
          </a:effectLst>
        </p:spPr>
      </p:sp>
      <p:pic>
        <p:nvPicPr>
          <p:cNvPr id="21" name="Box review screen" descr="Box review screen">    </p:cNvPr>
          <p:cNvPicPr>
            <a:picLocks noChangeAspect="1"/>
          </p:cNvPicPr>
          <p:nvPr/>
        </p:nvPicPr>
        <p:blipFill>
          <a:blip r:embed="rId1"/>
          <a:stretch>
            <a:fillRect/>
          </a:stretch>
        </p:blipFill>
        <p:spPr>
          <a:xfrm>
            <a:off x="8503920" y="1600200"/>
            <a:ext cx="2260540" cy="4892040"/>
          </a:xfrm>
          <a:prstGeom prst="rect">
            <a:avLst/>
          </a:prstGeom>
        </p:spPr>
      </p:pic>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05  ·  HOW IT WORKS</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From box label to completed Form 40-337</a:t>
            </a:r>
            <a:endParaRPr lang="en-US" sz="3400" dirty="0"/>
          </a:p>
        </p:txBody>
      </p:sp>
      <p:sp>
        <p:nvSpPr>
          <p:cNvPr id="4" name="Boxes screen frame"/>
          <p:cNvSpPr/>
          <p:nvPr/>
        </p:nvSpPr>
        <p:spPr>
          <a:xfrm>
            <a:off x="786384" y="1746504"/>
            <a:ext cx="2002601" cy="4142232"/>
          </a:xfrm>
          <a:prstGeom prst="roundRect">
            <a:avLst>
              <a:gd name="adj" fmla="val 12785"/>
            </a:avLst>
          </a:prstGeom>
          <a:solidFill>
            <a:srgbClr val="0B1220"/>
          </a:solidFill>
          <a:ln w="12700">
            <a:solidFill>
              <a:srgbClr val="2A3550"/>
            </a:solidFill>
            <a:prstDash val="solid"/>
          </a:ln>
          <a:effectLst>
            <a:outerShdw sx="100000" sy="100000" kx="0" ky="0" algn="bl" rotWithShape="0" blurRad="228600" dist="76200" dir="5400000">
              <a:srgbClr val="000000">
                <a:alpha val="35000"/>
              </a:srgbClr>
            </a:outerShdw>
          </a:effectLst>
        </p:spPr>
      </p:sp>
      <p:pic>
        <p:nvPicPr>
          <p:cNvPr id="5" name="Boxes screen" descr="Boxes screen">    </p:cNvPr>
          <p:cNvPicPr>
            <a:picLocks noChangeAspect="1"/>
          </p:cNvPicPr>
          <p:nvPr/>
        </p:nvPicPr>
        <p:blipFill>
          <a:blip r:embed="rId1"/>
          <a:stretch>
            <a:fillRect/>
          </a:stretch>
        </p:blipFill>
        <p:spPr>
          <a:xfrm>
            <a:off x="868680" y="1828800"/>
            <a:ext cx="1838009" cy="3977640"/>
          </a:xfrm>
          <a:prstGeom prst="rect">
            <a:avLst/>
          </a:prstGeom>
        </p:spPr>
      </p:pic>
      <p:sp>
        <p:nvSpPr>
          <p:cNvPr id="6" name="Review screen frame"/>
          <p:cNvSpPr/>
          <p:nvPr/>
        </p:nvSpPr>
        <p:spPr>
          <a:xfrm>
            <a:off x="3346704" y="1746504"/>
            <a:ext cx="2002601" cy="4142232"/>
          </a:xfrm>
          <a:prstGeom prst="roundRect">
            <a:avLst>
              <a:gd name="adj" fmla="val 12785"/>
            </a:avLst>
          </a:prstGeom>
          <a:solidFill>
            <a:srgbClr val="0B1220"/>
          </a:solidFill>
          <a:ln w="12700">
            <a:solidFill>
              <a:srgbClr val="2A3550"/>
            </a:solidFill>
            <a:prstDash val="solid"/>
          </a:ln>
          <a:effectLst>
            <a:outerShdw sx="100000" sy="100000" kx="0" ky="0" algn="bl" rotWithShape="0" blurRad="228600" dist="76200" dir="5400000">
              <a:srgbClr val="000000">
                <a:alpha val="35000"/>
              </a:srgbClr>
            </a:outerShdw>
          </a:effectLst>
        </p:spPr>
      </p:sp>
      <p:pic>
        <p:nvPicPr>
          <p:cNvPr id="7" name="Review screen" descr="Review screen">    </p:cNvPr>
          <p:cNvPicPr>
            <a:picLocks noChangeAspect="1"/>
          </p:cNvPicPr>
          <p:nvPr/>
        </p:nvPicPr>
        <p:blipFill>
          <a:blip r:embed="rId2"/>
          <a:stretch>
            <a:fillRect/>
          </a:stretch>
        </p:blipFill>
        <p:spPr>
          <a:xfrm>
            <a:off x="3429000" y="1828800"/>
            <a:ext cx="1838009" cy="3977640"/>
          </a:xfrm>
          <a:prstGeom prst="rect">
            <a:avLst/>
          </a:prstGeom>
        </p:spPr>
      </p:pic>
      <p:sp>
        <p:nvSpPr>
          <p:cNvPr id="8" name="Form panel"/>
          <p:cNvSpPr/>
          <p:nvPr/>
        </p:nvSpPr>
        <p:spPr>
          <a:xfrm>
            <a:off x="5989320" y="1783080"/>
            <a:ext cx="5577840" cy="4069080"/>
          </a:xfrm>
          <a:prstGeom prst="roundRect">
            <a:avLst>
              <a:gd name="adj" fmla="val 2247"/>
            </a:avLst>
          </a:prstGeom>
          <a:solidFill>
            <a:schemeClr val="bg2"/>
          </a:solidFill>
          <a:ln w="12700">
            <a:solidFill>
              <a:schemeClr val="bg2"/>
            </a:solidFill>
            <a:prstDash val="solid"/>
          </a:ln>
        </p:spPr>
      </p:sp>
      <p:pic>
        <p:nvPicPr>
          <p:cNvPr id="9" name="Printed form" descr="Completed DeCA Form 40-337">    </p:cNvPr>
          <p:cNvPicPr>
            <a:picLocks noChangeAspect="1"/>
          </p:cNvPicPr>
          <p:nvPr/>
        </p:nvPicPr>
        <p:blipFill>
          <a:blip r:embed="rId3"/>
          <a:stretch>
            <a:fillRect/>
          </a:stretch>
        </p:blipFill>
        <p:spPr>
          <a:xfrm>
            <a:off x="6172200" y="2011680"/>
            <a:ext cx="5212080" cy="3060912"/>
          </a:xfrm>
          <a:prstGeom prst="rect">
            <a:avLst/>
          </a:prstGeom>
        </p:spPr>
      </p:pic>
      <p:sp>
        <p:nvSpPr>
          <p:cNvPr id="10" name="1  Photograph each box"/>
          <p:cNvSpPr txBox="1"/>
          <p:nvPr/>
        </p:nvSpPr>
        <p:spPr>
          <a:xfrm>
            <a:off x="777240" y="5989320"/>
            <a:ext cx="251460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1  Photograph each box</a:t>
            </a:r>
            <a:endParaRPr lang="en-US" sz="1500" dirty="0"/>
          </a:p>
        </p:txBody>
      </p:sp>
      <p:sp>
        <p:nvSpPr>
          <p:cNvPr id="11" name="2  Review the fields"/>
          <p:cNvSpPr txBox="1"/>
          <p:nvPr/>
        </p:nvSpPr>
        <p:spPr>
          <a:xfrm>
            <a:off x="3337560" y="5989320"/>
            <a:ext cx="251460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2  Review the fields</a:t>
            </a:r>
            <a:endParaRPr lang="en-US" sz="1500" dirty="0"/>
          </a:p>
        </p:txBody>
      </p:sp>
      <p:sp>
        <p:nvSpPr>
          <p:cNvPr id="12" name="3  Print DeCA Form 40-337"/>
          <p:cNvSpPr txBox="1"/>
          <p:nvPr/>
        </p:nvSpPr>
        <p:spPr>
          <a:xfrm>
            <a:off x="5989320" y="5989320"/>
            <a:ext cx="5577840" cy="36576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3  Print DeCA Form 40-337</a:t>
            </a:r>
            <a:endParaRPr lang="en-US" sz="1500" dirty="0"/>
          </a:p>
        </p:txBody>
      </p:sp>
      <p:sp>
        <p:nvSpPr>
          <p:cNvPr id="13" name="Sample note"/>
          <p:cNvSpPr txBox="1"/>
          <p:nvPr/>
        </p:nvSpPr>
        <p:spPr>
          <a:xfrm>
            <a:off x="6172200" y="5349240"/>
            <a:ext cx="5212080" cy="320040"/>
          </a:xfrm>
          <a:prstGeom prst="rect">
            <a:avLst/>
          </a:prstGeom>
          <a:noFill/>
          <a:ln/>
        </p:spPr>
        <p:txBody>
          <a:bodyPr wrap="square" lIns="0" tIns="0" rIns="0" bIns="0" rtlCol="0" anchor="ctr"/>
          <a:lstStyle/>
          <a:p>
            <a:pPr indent="0" marL="0">
              <a:buNone/>
            </a:pPr>
            <a:r>
              <a:rPr lang="en-US" sz="1100" i="1" dirty="0">
                <a:solidFill>
                  <a:schemeClr val="accent6"/>
                </a:solidFill>
                <a:latin typeface="Calibri" pitchFamily="34" charset="0"/>
                <a:ea typeface="Calibri" pitchFamily="34" charset="-122"/>
                <a:cs typeface="Calibri" pitchFamily="34" charset="-120"/>
              </a:rPr>
              <a:t>Actual screens from the working app, shown with sample data</a:t>
            </a:r>
            <a:endParaRPr lang="en-US" sz="11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06  ·  ACCURACY</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Accuracy built in, not added on</a:t>
            </a:r>
            <a:endParaRPr lang="en-US" sz="3400" dirty="0"/>
          </a:p>
        </p:txBody>
      </p:sp>
      <p:graphicFrame>
        <p:nvGraphicFramePr>
          <p:cNvPr id="8" name="Field source table"/>
          <p:cNvGraphicFramePr>
            <a:graphicFrameLocks noGrp="1"/>
          </p:cNvGraphicFramePr>
          <p:nvPr>
            <p:extLst>
              <p:ext uri="{D42A27DB-BD31-4B8C-83A1-F6EECF244321}">
                <p14:modId xmlns:p14="http://schemas.microsoft.com/office/powerpoint/2010/main" val="1579011935"/>
              </p:ext>
            </p:extLst>
          </p:nvPr>
        </p:nvGraphicFramePr>
        <p:xfrm>
          <a:off x="640080" y="1874520"/>
          <a:ext cx="5394960" cy="914400"/>
        </p:xfrm>
        <a:graphic>
          <a:graphicData uri="http://schemas.openxmlformats.org/drawingml/2006/table">
            <a:tbl>
              <a:tblPr/>
              <a:tblGrid>
                <a:gridCol w="2926080"/>
                <a:gridCol w="246888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Form 40-337 field</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Source in Grind Log</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Product code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3F6B3A"/>
                          </a:solidFill>
                          <a:latin typeface="Calibri" pitchFamily="34" charset="0"/>
                          <a:ea typeface="Calibri" pitchFamily="34" charset="-122"/>
                          <a:cs typeface="Calibri" pitchFamily="34" charset="-120"/>
                        </a:rPr>
                        <a:t>From barcode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Pack date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3F6B3A"/>
                          </a:solidFill>
                          <a:latin typeface="Calibri" pitchFamily="34" charset="0"/>
                          <a:ea typeface="Calibri" pitchFamily="34" charset="-122"/>
                          <a:cs typeface="Calibri" pitchFamily="34" charset="-120"/>
                        </a:rPr>
                        <a:t>From barcode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Lot / serial number</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3F6B3A"/>
                          </a:solidFill>
                          <a:latin typeface="Calibri" pitchFamily="34" charset="0"/>
                          <a:ea typeface="Calibri" pitchFamily="34" charset="-122"/>
                          <a:cs typeface="Calibri" pitchFamily="34" charset="-120"/>
                        </a:rPr>
                        <a:t>From barcode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Net weight</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3F6B3A"/>
                          </a:solidFill>
                          <a:latin typeface="Calibri" pitchFamily="34" charset="0"/>
                          <a:ea typeface="Calibri" pitchFamily="34" charset="-122"/>
                          <a:cs typeface="Calibri" pitchFamily="34" charset="-120"/>
                        </a:rPr>
                        <a:t>From barcode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Manufacturer</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9A6B00"/>
                          </a:solidFill>
                          <a:latin typeface="Calibri" pitchFamily="34" charset="0"/>
                          <a:ea typeface="Calibri" pitchFamily="34" charset="-122"/>
                          <a:cs typeface="Calibri" pitchFamily="34" charset="-120"/>
                        </a:rPr>
                        <a:t>Looked up, verify</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r h="47548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Establishment number</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c>
                  <a:txBody>
                    <a:bodyPr/>
                    <a:lstStyle/>
                    <a:p>
                      <a:pPr indent="0" marL="0">
                        <a:buNone/>
                      </a:pPr>
                      <a:r>
                        <a:rPr lang="en-US" sz="1500" b="1" dirty="0">
                          <a:solidFill>
                            <a:srgbClr val="9A6B00"/>
                          </a:solidFill>
                          <a:latin typeface="Calibri" pitchFamily="34" charset="0"/>
                          <a:ea typeface="Calibri" pitchFamily="34" charset="-122"/>
                          <a:cs typeface="Calibri" pitchFamily="34" charset="-120"/>
                        </a:rPr>
                        <a:t>Looked up, verify</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EST note"/>
          <p:cNvSpPr txBox="1"/>
          <p:nvPr/>
        </p:nvSpPr>
        <p:spPr>
          <a:xfrm>
            <a:off x="640080" y="5349240"/>
            <a:ext cx="5394960" cy="548640"/>
          </a:xfrm>
          <a:prstGeom prst="rect">
            <a:avLst/>
          </a:prstGeom>
          <a:noFill/>
          <a:ln/>
        </p:spPr>
        <p:txBody>
          <a:bodyPr wrap="square" lIns="0" tIns="0" rIns="0" bIns="0" rtlCol="0" anchor="ctr"/>
          <a:lstStyle/>
          <a:p>
            <a:pPr indent="0" marL="0">
              <a:buNone/>
            </a:pPr>
            <a:r>
              <a:rPr lang="en-US" sz="1200" i="1" dirty="0">
                <a:solidFill>
                  <a:schemeClr val="accent6"/>
                </a:solidFill>
                <a:latin typeface="Calibri" pitchFamily="34" charset="0"/>
                <a:ea typeface="Calibri" pitchFamily="34" charset="-122"/>
                <a:cs typeface="Calibri" pitchFamily="34" charset="-120"/>
              </a:rPr>
              <a:t>Establishment numbers are suggested from Tyson/IBP plant codes and should always be confirmed against the label.</a:t>
            </a:r>
            <a:endParaRPr lang="en-US" sz="1200" dirty="0"/>
          </a:p>
        </p:txBody>
      </p:sp>
      <p:sp>
        <p:nvSpPr>
          <p:cNvPr id="6" name="Every value shows its source circle"/>
          <p:cNvSpPr/>
          <p:nvPr/>
        </p:nvSpPr>
        <p:spPr>
          <a:xfrm>
            <a:off x="6583680" y="1920240"/>
            <a:ext cx="603504" cy="603504"/>
          </a:xfrm>
          <a:prstGeom prst="ellipse">
            <a:avLst/>
          </a:prstGeom>
          <a:solidFill>
            <a:srgbClr val="14213D"/>
          </a:solidFill>
          <a:ln w="12700">
            <a:solidFill>
              <a:srgbClr val="14213D"/>
            </a:solidFill>
            <a:prstDash val="solid"/>
          </a:ln>
        </p:spPr>
      </p:sp>
      <p:pic>
        <p:nvPicPr>
          <p:cNvPr id="7" name="Every value shows its source icon" descr="preencoded.png">    </p:cNvPr>
          <p:cNvPicPr>
            <a:picLocks noChangeAspect="1"/>
          </p:cNvPicPr>
          <p:nvPr/>
        </p:nvPicPr>
        <p:blipFill>
          <a:blip r:embed="rId1"/>
          <a:stretch>
            <a:fillRect/>
          </a:stretch>
        </p:blipFill>
        <p:spPr>
          <a:xfrm>
            <a:off x="6746626" y="2083186"/>
            <a:ext cx="277612" cy="277612"/>
          </a:xfrm>
          <a:prstGeom prst="rect">
            <a:avLst/>
          </a:prstGeom>
        </p:spPr>
      </p:pic>
      <p:sp>
        <p:nvSpPr>
          <p:cNvPr id="8" name="Every value shows its source heading"/>
          <p:cNvSpPr txBox="1"/>
          <p:nvPr/>
        </p:nvSpPr>
        <p:spPr>
          <a:xfrm>
            <a:off x="7406640" y="1874520"/>
            <a:ext cx="420624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Every value shows its source</a:t>
            </a:r>
            <a:endParaRPr lang="en-US" sz="1700" dirty="0"/>
          </a:p>
        </p:txBody>
      </p:sp>
      <p:sp>
        <p:nvSpPr>
          <p:cNvPr id="9" name="Every value shows its source body"/>
          <p:cNvSpPr txBox="1"/>
          <p:nvPr/>
        </p:nvSpPr>
        <p:spPr>
          <a:xfrm>
            <a:off x="7406640" y="2240280"/>
            <a:ext cx="420624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Green = read from the barcode. Yellow = looked up, check the label.</a:t>
            </a:r>
            <a:endParaRPr lang="en-US" sz="1300" dirty="0"/>
          </a:p>
        </p:txBody>
      </p:sp>
      <p:sp>
        <p:nvSpPr>
          <p:cNvPr id="10" name="A person confirms each box circle"/>
          <p:cNvSpPr/>
          <p:nvPr/>
        </p:nvSpPr>
        <p:spPr>
          <a:xfrm>
            <a:off x="6583680" y="2898648"/>
            <a:ext cx="603504" cy="603504"/>
          </a:xfrm>
          <a:prstGeom prst="ellipse">
            <a:avLst/>
          </a:prstGeom>
          <a:solidFill>
            <a:srgbClr val="14213D"/>
          </a:solidFill>
          <a:ln w="12700">
            <a:solidFill>
              <a:srgbClr val="14213D"/>
            </a:solidFill>
            <a:prstDash val="solid"/>
          </a:ln>
        </p:spPr>
      </p:sp>
      <p:pic>
        <p:nvPicPr>
          <p:cNvPr id="11" name="A person confirms each box icon" descr="preencoded.png">    </p:cNvPr>
          <p:cNvPicPr>
            <a:picLocks noChangeAspect="1"/>
          </p:cNvPicPr>
          <p:nvPr/>
        </p:nvPicPr>
        <p:blipFill>
          <a:blip r:embed="rId2"/>
          <a:stretch>
            <a:fillRect/>
          </a:stretch>
        </p:blipFill>
        <p:spPr>
          <a:xfrm>
            <a:off x="6746626" y="3061594"/>
            <a:ext cx="277612" cy="277612"/>
          </a:xfrm>
          <a:prstGeom prst="rect">
            <a:avLst/>
          </a:prstGeom>
        </p:spPr>
      </p:pic>
      <p:sp>
        <p:nvSpPr>
          <p:cNvPr id="12" name="A person confirms each box heading"/>
          <p:cNvSpPr txBox="1"/>
          <p:nvPr/>
        </p:nvSpPr>
        <p:spPr>
          <a:xfrm>
            <a:off x="7406640" y="2852928"/>
            <a:ext cx="420624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A person confirms each box</a:t>
            </a:r>
            <a:endParaRPr lang="en-US" sz="1700" dirty="0"/>
          </a:p>
        </p:txBody>
      </p:sp>
      <p:sp>
        <p:nvSpPr>
          <p:cNvPr id="13" name="A person confirms each box body"/>
          <p:cNvSpPr txBox="1"/>
          <p:nvPr/>
        </p:nvSpPr>
        <p:spPr>
          <a:xfrm>
            <a:off x="7406640" y="3218688"/>
            <a:ext cx="420624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Nothing is saved until the employee reviews it.</a:t>
            </a:r>
            <a:endParaRPr lang="en-US" sz="1300" dirty="0"/>
          </a:p>
        </p:txBody>
      </p:sp>
      <p:sp>
        <p:nvSpPr>
          <p:cNvPr id="14" name="Duplicate box warning circle"/>
          <p:cNvSpPr/>
          <p:nvPr/>
        </p:nvSpPr>
        <p:spPr>
          <a:xfrm>
            <a:off x="6583680" y="3877056"/>
            <a:ext cx="603504" cy="603504"/>
          </a:xfrm>
          <a:prstGeom prst="ellipse">
            <a:avLst/>
          </a:prstGeom>
          <a:solidFill>
            <a:srgbClr val="14213D"/>
          </a:solidFill>
          <a:ln w="12700">
            <a:solidFill>
              <a:srgbClr val="14213D"/>
            </a:solidFill>
            <a:prstDash val="solid"/>
          </a:ln>
        </p:spPr>
      </p:sp>
      <p:pic>
        <p:nvPicPr>
          <p:cNvPr id="15" name="Duplicate box warning icon" descr="preencoded.png">    </p:cNvPr>
          <p:cNvPicPr>
            <a:picLocks noChangeAspect="1"/>
          </p:cNvPicPr>
          <p:nvPr/>
        </p:nvPicPr>
        <p:blipFill>
          <a:blip r:embed="rId3"/>
          <a:stretch>
            <a:fillRect/>
          </a:stretch>
        </p:blipFill>
        <p:spPr>
          <a:xfrm>
            <a:off x="6746626" y="4040002"/>
            <a:ext cx="277612" cy="277612"/>
          </a:xfrm>
          <a:prstGeom prst="rect">
            <a:avLst/>
          </a:prstGeom>
        </p:spPr>
      </p:pic>
      <p:sp>
        <p:nvSpPr>
          <p:cNvPr id="16" name="Duplicate box warning heading"/>
          <p:cNvSpPr txBox="1"/>
          <p:nvPr/>
        </p:nvSpPr>
        <p:spPr>
          <a:xfrm>
            <a:off x="7406640" y="3831336"/>
            <a:ext cx="420624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Duplicate box warning</a:t>
            </a:r>
            <a:endParaRPr lang="en-US" sz="1700" dirty="0"/>
          </a:p>
        </p:txBody>
      </p:sp>
      <p:sp>
        <p:nvSpPr>
          <p:cNvPr id="17" name="Duplicate box warning body"/>
          <p:cNvSpPr txBox="1"/>
          <p:nvPr/>
        </p:nvSpPr>
        <p:spPr>
          <a:xfrm>
            <a:off x="7406640" y="4197096"/>
            <a:ext cx="420624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Scanning the same box twice is flagged.</a:t>
            </a:r>
            <a:endParaRPr lang="en-US" sz="1300" dirty="0"/>
          </a:p>
        </p:txBody>
      </p:sp>
      <p:sp>
        <p:nvSpPr>
          <p:cNvPr id="18" name="Missing-information alerts circle"/>
          <p:cNvSpPr/>
          <p:nvPr/>
        </p:nvSpPr>
        <p:spPr>
          <a:xfrm>
            <a:off x="6583680" y="4855464"/>
            <a:ext cx="603504" cy="603504"/>
          </a:xfrm>
          <a:prstGeom prst="ellipse">
            <a:avLst/>
          </a:prstGeom>
          <a:solidFill>
            <a:srgbClr val="14213D"/>
          </a:solidFill>
          <a:ln w="12700">
            <a:solidFill>
              <a:srgbClr val="14213D"/>
            </a:solidFill>
            <a:prstDash val="solid"/>
          </a:ln>
        </p:spPr>
      </p:sp>
      <p:pic>
        <p:nvPicPr>
          <p:cNvPr id="19" name="Missing-information alerts icon" descr="preencoded.png">    </p:cNvPr>
          <p:cNvPicPr>
            <a:picLocks noChangeAspect="1"/>
          </p:cNvPicPr>
          <p:nvPr/>
        </p:nvPicPr>
        <p:blipFill>
          <a:blip r:embed="rId4"/>
          <a:stretch>
            <a:fillRect/>
          </a:stretch>
        </p:blipFill>
        <p:spPr>
          <a:xfrm>
            <a:off x="6746626" y="5018410"/>
            <a:ext cx="277612" cy="277612"/>
          </a:xfrm>
          <a:prstGeom prst="rect">
            <a:avLst/>
          </a:prstGeom>
        </p:spPr>
      </p:pic>
      <p:sp>
        <p:nvSpPr>
          <p:cNvPr id="20" name="Missing-information alerts heading"/>
          <p:cNvSpPr txBox="1"/>
          <p:nvPr/>
        </p:nvSpPr>
        <p:spPr>
          <a:xfrm>
            <a:off x="7406640" y="4809744"/>
            <a:ext cx="4206240" cy="347472"/>
          </a:xfrm>
          <a:prstGeom prst="rect">
            <a:avLst/>
          </a:prstGeom>
          <a:noFill/>
          <a:ln/>
        </p:spPr>
        <p:txBody>
          <a:bodyPr wrap="square" lIns="0" tIns="0" rIns="0" bIns="0" rtlCol="0" anchor="ctr"/>
          <a:lstStyle/>
          <a:p>
            <a:pPr indent="0" marL="0">
              <a:buNone/>
            </a:pPr>
            <a:r>
              <a:rPr lang="en-US" sz="1700" b="1" dirty="0">
                <a:solidFill>
                  <a:schemeClr val="tx2"/>
                </a:solidFill>
                <a:latin typeface="Calibri" pitchFamily="34" charset="0"/>
                <a:ea typeface="Calibri" pitchFamily="34" charset="-122"/>
                <a:cs typeface="Calibri" pitchFamily="34" charset="-120"/>
              </a:rPr>
              <a:t>Missing-information alerts</a:t>
            </a:r>
            <a:endParaRPr lang="en-US" sz="1700" dirty="0"/>
          </a:p>
        </p:txBody>
      </p:sp>
      <p:sp>
        <p:nvSpPr>
          <p:cNvPr id="21" name="Missing-information alerts body"/>
          <p:cNvSpPr txBox="1"/>
          <p:nvPr/>
        </p:nvSpPr>
        <p:spPr>
          <a:xfrm>
            <a:off x="7406640" y="5175504"/>
            <a:ext cx="4206240" cy="502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Blank required items are listed before the log is saved.</a:t>
            </a:r>
            <a:endParaRPr lang="en-US" sz="13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07  ·  FOOD SAFETY</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Ready when a recall notice arrives</a:t>
            </a:r>
            <a:endParaRPr lang="en-US" sz="3400" dirty="0"/>
          </a:p>
        </p:txBody>
      </p:sp>
      <p:sp>
        <p:nvSpPr>
          <p:cNvPr id="4" name="Recall notice step"/>
          <p:cNvSpPr/>
          <p:nvPr/>
        </p:nvSpPr>
        <p:spPr>
          <a:xfrm>
            <a:off x="640080" y="1920240"/>
            <a:ext cx="2514600" cy="2103120"/>
          </a:xfrm>
          <a:prstGeom prst="roundRect">
            <a:avLst>
              <a:gd name="adj" fmla="val 5217"/>
            </a:avLst>
          </a:prstGeom>
          <a:solidFill>
            <a:srgbClr val="1E2E52"/>
          </a:solidFill>
          <a:ln w="12700">
            <a:solidFill>
              <a:srgbClr val="2C3E66"/>
            </a:solidFill>
            <a:prstDash val="solid"/>
          </a:ln>
        </p:spPr>
      </p:sp>
      <p:sp>
        <p:nvSpPr>
          <p:cNvPr id="5" name="Recall notice circle"/>
          <p:cNvSpPr/>
          <p:nvPr/>
        </p:nvSpPr>
        <p:spPr>
          <a:xfrm>
            <a:off x="868680" y="2148840"/>
            <a:ext cx="640080" cy="640080"/>
          </a:xfrm>
          <a:prstGeom prst="ellipse">
            <a:avLst/>
          </a:prstGeom>
          <a:solidFill>
            <a:srgbClr val="C9A227"/>
          </a:solidFill>
          <a:ln w="12700">
            <a:solidFill>
              <a:srgbClr val="C9A227"/>
            </a:solidFill>
            <a:prstDash val="solid"/>
          </a:ln>
        </p:spPr>
      </p:sp>
      <p:pic>
        <p:nvPicPr>
          <p:cNvPr id="6" name="Recall notice icon" descr="preencoded.png">    </p:cNvPr>
          <p:cNvPicPr>
            <a:picLocks noChangeAspect="1"/>
          </p:cNvPicPr>
          <p:nvPr/>
        </p:nvPicPr>
        <p:blipFill>
          <a:blip r:embed="rId1"/>
          <a:stretch>
            <a:fillRect/>
          </a:stretch>
        </p:blipFill>
        <p:spPr>
          <a:xfrm>
            <a:off x="1041502" y="2321662"/>
            <a:ext cx="294437" cy="294437"/>
          </a:xfrm>
          <a:prstGeom prst="rect">
            <a:avLst/>
          </a:prstGeom>
        </p:spPr>
      </p:pic>
      <p:sp>
        <p:nvSpPr>
          <p:cNvPr id="7" name="Recall notice heading"/>
          <p:cNvSpPr txBox="1"/>
          <p:nvPr/>
        </p:nvSpPr>
        <p:spPr>
          <a:xfrm>
            <a:off x="868680" y="2907792"/>
            <a:ext cx="2103120" cy="36576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Recall notice</a:t>
            </a:r>
            <a:endParaRPr lang="en-US" sz="1700" dirty="0"/>
          </a:p>
        </p:txBody>
      </p:sp>
      <p:sp>
        <p:nvSpPr>
          <p:cNvPr id="8" name="Recall notice body"/>
          <p:cNvSpPr txBox="1"/>
          <p:nvPr/>
        </p:nvSpPr>
        <p:spPr>
          <a:xfrm>
            <a:off x="868680" y="3273552"/>
            <a:ext cx="2103120" cy="640080"/>
          </a:xfrm>
          <a:prstGeom prst="rect">
            <a:avLst/>
          </a:prstGeom>
          <a:noFill/>
          <a:ln/>
        </p:spPr>
        <p:txBody>
          <a:bodyPr wrap="square" lIns="0" tIns="0" rIns="0" bIns="0" rtlCol="0" anchor="t"/>
          <a:lstStyle/>
          <a:p>
            <a:pPr indent="0" marL="0">
              <a:buNone/>
            </a:pPr>
            <a:r>
              <a:rPr lang="en-US" sz="1300" dirty="0">
                <a:solidFill>
                  <a:srgbClr val="C9D3E6"/>
                </a:solidFill>
                <a:latin typeface="Calibri" pitchFamily="34" charset="0"/>
                <a:ea typeface="Calibri" pitchFamily="34" charset="-122"/>
                <a:cs typeface="Calibri" pitchFamily="34" charset="-120"/>
              </a:rPr>
              <a:t>Supplier, establishment number and pack dates</a:t>
            </a:r>
            <a:endParaRPr lang="en-US" sz="1300" dirty="0"/>
          </a:p>
        </p:txBody>
      </p:sp>
      <p:pic>
        <p:nvPicPr>
          <p:cNvPr id="9" name="Arrow 1" descr="preencoded.png">    </p:cNvPr>
          <p:cNvPicPr>
            <a:picLocks noChangeAspect="1"/>
          </p:cNvPicPr>
          <p:nvPr/>
        </p:nvPicPr>
        <p:blipFill>
          <a:blip r:embed="rId2"/>
          <a:stretch>
            <a:fillRect/>
          </a:stretch>
        </p:blipFill>
        <p:spPr>
          <a:xfrm>
            <a:off x="3209544" y="2834640"/>
            <a:ext cx="182880" cy="274320"/>
          </a:xfrm>
          <a:prstGeom prst="rect">
            <a:avLst/>
          </a:prstGeom>
        </p:spPr>
      </p:pic>
      <p:sp>
        <p:nvSpPr>
          <p:cNvPr id="10" name="Open Records step"/>
          <p:cNvSpPr/>
          <p:nvPr/>
        </p:nvSpPr>
        <p:spPr>
          <a:xfrm>
            <a:off x="3447288" y="1920240"/>
            <a:ext cx="2514600" cy="2103120"/>
          </a:xfrm>
          <a:prstGeom prst="roundRect">
            <a:avLst>
              <a:gd name="adj" fmla="val 5217"/>
            </a:avLst>
          </a:prstGeom>
          <a:solidFill>
            <a:srgbClr val="1E2E52"/>
          </a:solidFill>
          <a:ln w="12700">
            <a:solidFill>
              <a:srgbClr val="2C3E66"/>
            </a:solidFill>
            <a:prstDash val="solid"/>
          </a:ln>
        </p:spPr>
      </p:sp>
      <p:sp>
        <p:nvSpPr>
          <p:cNvPr id="11" name="Open Records circle"/>
          <p:cNvSpPr/>
          <p:nvPr/>
        </p:nvSpPr>
        <p:spPr>
          <a:xfrm>
            <a:off x="3675888" y="2148840"/>
            <a:ext cx="640080" cy="640080"/>
          </a:xfrm>
          <a:prstGeom prst="ellipse">
            <a:avLst/>
          </a:prstGeom>
          <a:solidFill>
            <a:srgbClr val="C9A227"/>
          </a:solidFill>
          <a:ln w="12700">
            <a:solidFill>
              <a:srgbClr val="C9A227"/>
            </a:solidFill>
            <a:prstDash val="solid"/>
          </a:ln>
        </p:spPr>
      </p:sp>
      <p:pic>
        <p:nvPicPr>
          <p:cNvPr id="12" name="Open Records icon" descr="preencoded.png">    </p:cNvPr>
          <p:cNvPicPr>
            <a:picLocks noChangeAspect="1"/>
          </p:cNvPicPr>
          <p:nvPr/>
        </p:nvPicPr>
        <p:blipFill>
          <a:blip r:embed="rId3"/>
          <a:stretch>
            <a:fillRect/>
          </a:stretch>
        </p:blipFill>
        <p:spPr>
          <a:xfrm>
            <a:off x="3848710" y="2321662"/>
            <a:ext cx="294437" cy="294437"/>
          </a:xfrm>
          <a:prstGeom prst="rect">
            <a:avLst/>
          </a:prstGeom>
        </p:spPr>
      </p:pic>
      <p:sp>
        <p:nvSpPr>
          <p:cNvPr id="13" name="Open Records heading"/>
          <p:cNvSpPr txBox="1"/>
          <p:nvPr/>
        </p:nvSpPr>
        <p:spPr>
          <a:xfrm>
            <a:off x="3675888" y="2907792"/>
            <a:ext cx="2103120" cy="36576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Open Records</a:t>
            </a:r>
            <a:endParaRPr lang="en-US" sz="1700" dirty="0"/>
          </a:p>
        </p:txBody>
      </p:sp>
      <p:sp>
        <p:nvSpPr>
          <p:cNvPr id="14" name="Open Records body"/>
          <p:cNvSpPr txBox="1"/>
          <p:nvPr/>
        </p:nvSpPr>
        <p:spPr>
          <a:xfrm>
            <a:off x="3675888" y="3273552"/>
            <a:ext cx="2103120" cy="640080"/>
          </a:xfrm>
          <a:prstGeom prst="rect">
            <a:avLst/>
          </a:prstGeom>
          <a:noFill/>
          <a:ln/>
        </p:spPr>
        <p:txBody>
          <a:bodyPr wrap="square" lIns="0" tIns="0" rIns="0" bIns="0" rtlCol="0" anchor="t"/>
          <a:lstStyle/>
          <a:p>
            <a:pPr indent="0" marL="0">
              <a:buNone/>
            </a:pPr>
            <a:r>
              <a:rPr lang="en-US" sz="1300" dirty="0">
                <a:solidFill>
                  <a:srgbClr val="C9D3E6"/>
                </a:solidFill>
                <a:latin typeface="Calibri" pitchFamily="34" charset="0"/>
                <a:ea typeface="Calibri" pitchFamily="34" charset="-122"/>
                <a:cs typeface="Calibri" pitchFamily="34" charset="-120"/>
              </a:rPr>
              <a:t>Saved grind logs listed by date ground</a:t>
            </a:r>
            <a:endParaRPr lang="en-US" sz="1300" dirty="0"/>
          </a:p>
        </p:txBody>
      </p:sp>
      <p:pic>
        <p:nvPicPr>
          <p:cNvPr id="15" name="Arrow 2" descr="preencoded.png">    </p:cNvPr>
          <p:cNvPicPr>
            <a:picLocks noChangeAspect="1"/>
          </p:cNvPicPr>
          <p:nvPr/>
        </p:nvPicPr>
        <p:blipFill>
          <a:blip r:embed="rId4"/>
          <a:stretch>
            <a:fillRect/>
          </a:stretch>
        </p:blipFill>
        <p:spPr>
          <a:xfrm>
            <a:off x="6016752" y="2834640"/>
            <a:ext cx="182880" cy="274320"/>
          </a:xfrm>
          <a:prstGeom prst="rect">
            <a:avLst/>
          </a:prstGeom>
        </p:spPr>
      </p:pic>
      <p:sp>
        <p:nvSpPr>
          <p:cNvPr id="16" name="Match the boxes step"/>
          <p:cNvSpPr/>
          <p:nvPr/>
        </p:nvSpPr>
        <p:spPr>
          <a:xfrm>
            <a:off x="6254496" y="1920240"/>
            <a:ext cx="2514600" cy="2103120"/>
          </a:xfrm>
          <a:prstGeom prst="roundRect">
            <a:avLst>
              <a:gd name="adj" fmla="val 5217"/>
            </a:avLst>
          </a:prstGeom>
          <a:solidFill>
            <a:srgbClr val="1E2E52"/>
          </a:solidFill>
          <a:ln w="12700">
            <a:solidFill>
              <a:srgbClr val="2C3E66"/>
            </a:solidFill>
            <a:prstDash val="solid"/>
          </a:ln>
        </p:spPr>
      </p:sp>
      <p:sp>
        <p:nvSpPr>
          <p:cNvPr id="17" name="Match the boxes circle"/>
          <p:cNvSpPr/>
          <p:nvPr/>
        </p:nvSpPr>
        <p:spPr>
          <a:xfrm>
            <a:off x="6483096" y="2148840"/>
            <a:ext cx="640080" cy="640080"/>
          </a:xfrm>
          <a:prstGeom prst="ellipse">
            <a:avLst/>
          </a:prstGeom>
          <a:solidFill>
            <a:srgbClr val="C9A227"/>
          </a:solidFill>
          <a:ln w="12700">
            <a:solidFill>
              <a:srgbClr val="C9A227"/>
            </a:solidFill>
            <a:prstDash val="solid"/>
          </a:ln>
        </p:spPr>
      </p:sp>
      <p:pic>
        <p:nvPicPr>
          <p:cNvPr id="18" name="Match the boxes icon" descr="preencoded.png">    </p:cNvPr>
          <p:cNvPicPr>
            <a:picLocks noChangeAspect="1"/>
          </p:cNvPicPr>
          <p:nvPr/>
        </p:nvPicPr>
        <p:blipFill>
          <a:blip r:embed="rId5"/>
          <a:stretch>
            <a:fillRect/>
          </a:stretch>
        </p:blipFill>
        <p:spPr>
          <a:xfrm>
            <a:off x="6655918" y="2321662"/>
            <a:ext cx="294437" cy="294437"/>
          </a:xfrm>
          <a:prstGeom prst="rect">
            <a:avLst/>
          </a:prstGeom>
        </p:spPr>
      </p:pic>
      <p:sp>
        <p:nvSpPr>
          <p:cNvPr id="19" name="Match the boxes heading"/>
          <p:cNvSpPr txBox="1"/>
          <p:nvPr/>
        </p:nvSpPr>
        <p:spPr>
          <a:xfrm>
            <a:off x="6483096" y="2907792"/>
            <a:ext cx="2103120" cy="36576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Match the boxes</a:t>
            </a:r>
            <a:endParaRPr lang="en-US" sz="1700" dirty="0"/>
          </a:p>
        </p:txBody>
      </p:sp>
      <p:sp>
        <p:nvSpPr>
          <p:cNvPr id="20" name="Match the boxes body"/>
          <p:cNvSpPr txBox="1"/>
          <p:nvPr/>
        </p:nvSpPr>
        <p:spPr>
          <a:xfrm>
            <a:off x="6483096" y="3273552"/>
            <a:ext cx="2103120" cy="640080"/>
          </a:xfrm>
          <a:prstGeom prst="rect">
            <a:avLst/>
          </a:prstGeom>
          <a:noFill/>
          <a:ln/>
        </p:spPr>
        <p:txBody>
          <a:bodyPr wrap="square" lIns="0" tIns="0" rIns="0" bIns="0" rtlCol="0" anchor="t"/>
          <a:lstStyle/>
          <a:p>
            <a:pPr indent="0" marL="0">
              <a:buNone/>
            </a:pPr>
            <a:r>
              <a:rPr lang="en-US" sz="1300" dirty="0">
                <a:solidFill>
                  <a:srgbClr val="C9D3E6"/>
                </a:solidFill>
                <a:latin typeface="Calibri" pitchFamily="34" charset="0"/>
                <a:ea typeface="Calibri" pitchFamily="34" charset="-122"/>
                <a:cs typeface="Calibri" pitchFamily="34" charset="-120"/>
              </a:rPr>
              <a:t>Product code, EST and pack date for every grind</a:t>
            </a:r>
            <a:endParaRPr lang="en-US" sz="1300" dirty="0"/>
          </a:p>
        </p:txBody>
      </p:sp>
      <p:pic>
        <p:nvPicPr>
          <p:cNvPr id="21" name="Arrow 3" descr="preencoded.png">    </p:cNvPr>
          <p:cNvPicPr>
            <a:picLocks noChangeAspect="1"/>
          </p:cNvPicPr>
          <p:nvPr/>
        </p:nvPicPr>
        <p:blipFill>
          <a:blip r:embed="rId6"/>
          <a:stretch>
            <a:fillRect/>
          </a:stretch>
        </p:blipFill>
        <p:spPr>
          <a:xfrm>
            <a:off x="8823960" y="2834640"/>
            <a:ext cx="182880" cy="274320"/>
          </a:xfrm>
          <a:prstGeom prst="rect">
            <a:avLst/>
          </a:prstGeom>
        </p:spPr>
      </p:pic>
      <p:sp>
        <p:nvSpPr>
          <p:cNvPr id="22" name="Act with confidence step"/>
          <p:cNvSpPr/>
          <p:nvPr/>
        </p:nvSpPr>
        <p:spPr>
          <a:xfrm>
            <a:off x="9061704" y="1920240"/>
            <a:ext cx="2514600" cy="2103120"/>
          </a:xfrm>
          <a:prstGeom prst="roundRect">
            <a:avLst>
              <a:gd name="adj" fmla="val 5217"/>
            </a:avLst>
          </a:prstGeom>
          <a:solidFill>
            <a:srgbClr val="1E2E52"/>
          </a:solidFill>
          <a:ln w="12700">
            <a:solidFill>
              <a:srgbClr val="2C3E66"/>
            </a:solidFill>
            <a:prstDash val="solid"/>
          </a:ln>
        </p:spPr>
      </p:sp>
      <p:sp>
        <p:nvSpPr>
          <p:cNvPr id="23" name="Act with confidence circle"/>
          <p:cNvSpPr/>
          <p:nvPr/>
        </p:nvSpPr>
        <p:spPr>
          <a:xfrm>
            <a:off x="9290304" y="2148840"/>
            <a:ext cx="640080" cy="640080"/>
          </a:xfrm>
          <a:prstGeom prst="ellipse">
            <a:avLst/>
          </a:prstGeom>
          <a:solidFill>
            <a:srgbClr val="C9A227"/>
          </a:solidFill>
          <a:ln w="12700">
            <a:solidFill>
              <a:srgbClr val="C9A227"/>
            </a:solidFill>
            <a:prstDash val="solid"/>
          </a:ln>
        </p:spPr>
      </p:sp>
      <p:pic>
        <p:nvPicPr>
          <p:cNvPr id="24" name="Act with confidence icon" descr="preencoded.png">    </p:cNvPr>
          <p:cNvPicPr>
            <a:picLocks noChangeAspect="1"/>
          </p:cNvPicPr>
          <p:nvPr/>
        </p:nvPicPr>
        <p:blipFill>
          <a:blip r:embed="rId7"/>
          <a:stretch>
            <a:fillRect/>
          </a:stretch>
        </p:blipFill>
        <p:spPr>
          <a:xfrm>
            <a:off x="9463126" y="2321662"/>
            <a:ext cx="294437" cy="294437"/>
          </a:xfrm>
          <a:prstGeom prst="rect">
            <a:avLst/>
          </a:prstGeom>
        </p:spPr>
      </p:pic>
      <p:sp>
        <p:nvSpPr>
          <p:cNvPr id="25" name="Act with confidence heading"/>
          <p:cNvSpPr txBox="1"/>
          <p:nvPr/>
        </p:nvSpPr>
        <p:spPr>
          <a:xfrm>
            <a:off x="9290304" y="2907792"/>
            <a:ext cx="2103120" cy="365760"/>
          </a:xfrm>
          <a:prstGeom prst="rect">
            <a:avLst/>
          </a:prstGeom>
          <a:noFill/>
          <a:ln/>
        </p:spPr>
        <p:txBody>
          <a:bodyPr wrap="square" lIns="0" tIns="0" rIns="0" bIns="0" rtlCol="0" anchor="ctr"/>
          <a:lstStyle/>
          <a:p>
            <a:pPr indent="0" marL="0">
              <a:buNone/>
            </a:pPr>
            <a:r>
              <a:rPr lang="en-US" sz="1700" b="1" dirty="0">
                <a:solidFill>
                  <a:schemeClr val="bg1"/>
                </a:solidFill>
                <a:latin typeface="Calibri" pitchFamily="34" charset="0"/>
                <a:ea typeface="Calibri" pitchFamily="34" charset="-122"/>
                <a:cs typeface="Calibri" pitchFamily="34" charset="-120"/>
              </a:rPr>
              <a:t>Act with confidence</a:t>
            </a:r>
            <a:endParaRPr lang="en-US" sz="1700" dirty="0"/>
          </a:p>
        </p:txBody>
      </p:sp>
      <p:sp>
        <p:nvSpPr>
          <p:cNvPr id="26" name="Act with confidence body"/>
          <p:cNvSpPr txBox="1"/>
          <p:nvPr/>
        </p:nvSpPr>
        <p:spPr>
          <a:xfrm>
            <a:off x="9290304" y="3273552"/>
            <a:ext cx="2103120" cy="640080"/>
          </a:xfrm>
          <a:prstGeom prst="rect">
            <a:avLst/>
          </a:prstGeom>
          <a:noFill/>
          <a:ln/>
        </p:spPr>
        <p:txBody>
          <a:bodyPr wrap="square" lIns="0" tIns="0" rIns="0" bIns="0" rtlCol="0" anchor="t"/>
          <a:lstStyle/>
          <a:p>
            <a:pPr indent="0" marL="0">
              <a:buNone/>
            </a:pPr>
            <a:r>
              <a:rPr lang="en-US" sz="1300" dirty="0">
                <a:solidFill>
                  <a:srgbClr val="C9D3E6"/>
                </a:solidFill>
                <a:latin typeface="Calibri" pitchFamily="34" charset="0"/>
                <a:ea typeface="Calibri" pitchFamily="34" charset="-122"/>
                <a:cs typeface="Calibri" pitchFamily="34" charset="-120"/>
              </a:rPr>
              <a:t>Pull affected product; print or export the log</a:t>
            </a:r>
            <a:endParaRPr lang="en-US" sz="1300" dirty="0"/>
          </a:p>
        </p:txBody>
      </p:sp>
      <p:sp>
        <p:nvSpPr>
          <p:cNvPr id="27" name="Linked fact heading"/>
          <p:cNvSpPr txBox="1"/>
          <p:nvPr/>
        </p:nvSpPr>
        <p:spPr>
          <a:xfrm>
            <a:off x="640080" y="4709160"/>
            <a:ext cx="347472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Linked</a:t>
            </a:r>
            <a:endParaRPr lang="en-US" sz="2400" dirty="0"/>
          </a:p>
        </p:txBody>
      </p:sp>
      <p:sp>
        <p:nvSpPr>
          <p:cNvPr id="28" name="Linked fact body"/>
          <p:cNvSpPr txBox="1"/>
          <p:nvPr/>
        </p:nvSpPr>
        <p:spPr>
          <a:xfrm>
            <a:off x="640080" y="5212080"/>
            <a:ext cx="3291840" cy="6858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Every grind is tied to the exact source boxes used</a:t>
            </a:r>
            <a:endParaRPr lang="en-US" sz="1400" dirty="0"/>
          </a:p>
        </p:txBody>
      </p:sp>
      <p:sp>
        <p:nvSpPr>
          <p:cNvPr id="29" name="Documented fact heading"/>
          <p:cNvSpPr txBox="1"/>
          <p:nvPr/>
        </p:nvSpPr>
        <p:spPr>
          <a:xfrm>
            <a:off x="4343400" y="4709160"/>
            <a:ext cx="347472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Documented</a:t>
            </a:r>
            <a:endParaRPr lang="en-US" sz="2400" dirty="0"/>
          </a:p>
        </p:txBody>
      </p:sp>
      <p:sp>
        <p:nvSpPr>
          <p:cNvPr id="30" name="Documented fact body"/>
          <p:cNvSpPr txBox="1"/>
          <p:nvPr/>
        </p:nvSpPr>
        <p:spPr>
          <a:xfrm>
            <a:off x="4343400" y="5212080"/>
            <a:ext cx="3291840" cy="6858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Cleaning and sanitizing time, date and initials on every log</a:t>
            </a:r>
            <a:endParaRPr lang="en-US" sz="1400" dirty="0"/>
          </a:p>
        </p:txBody>
      </p:sp>
      <p:sp>
        <p:nvSpPr>
          <p:cNvPr id="31" name="Portable fact heading"/>
          <p:cNvSpPr txBox="1"/>
          <p:nvPr/>
        </p:nvSpPr>
        <p:spPr>
          <a:xfrm>
            <a:off x="8046720" y="4709160"/>
            <a:ext cx="347472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Portable</a:t>
            </a:r>
            <a:endParaRPr lang="en-US" sz="2400" dirty="0"/>
          </a:p>
        </p:txBody>
      </p:sp>
      <p:sp>
        <p:nvSpPr>
          <p:cNvPr id="32" name="Portable fact body"/>
          <p:cNvSpPr txBox="1"/>
          <p:nvPr/>
        </p:nvSpPr>
        <p:spPr>
          <a:xfrm>
            <a:off x="8046720" y="5212080"/>
            <a:ext cx="3291840" cy="685800"/>
          </a:xfrm>
          <a:prstGeom prst="rect">
            <a:avLst/>
          </a:prstGeom>
          <a:noFill/>
          <a:ln/>
        </p:spPr>
        <p:txBody>
          <a:bodyPr wrap="square" lIns="0" tIns="0" rIns="0" bIns="0" rtlCol="0" anchor="t"/>
          <a:lstStyle/>
          <a:p>
            <a:pPr indent="0" marL="0">
              <a:buNone/>
            </a:pPr>
            <a:r>
              <a:rPr lang="en-US" sz="1400" dirty="0">
                <a:solidFill>
                  <a:schemeClr val="bg1"/>
                </a:solidFill>
                <a:latin typeface="Calibri" pitchFamily="34" charset="0"/>
                <a:ea typeface="Calibri" pitchFamily="34" charset="-122"/>
                <a:cs typeface="Calibri" pitchFamily="34" charset="-120"/>
              </a:rPr>
              <a:t>Spreadsheet export and back-up file for safekeeping</a:t>
            </a:r>
            <a:endParaRPr lang="en-US" sz="1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08  ·  SIDE BY SIDE</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Handwritten log vs. Grind Log</a:t>
            </a:r>
            <a:endParaRPr lang="en-US" sz="34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640080" y="1783080"/>
          <a:ext cx="10927080" cy="914400"/>
        </p:xfrm>
        <a:graphic>
          <a:graphicData uri="http://schemas.openxmlformats.org/drawingml/2006/table">
            <a:tbl>
              <a:tblPr/>
              <a:tblGrid>
                <a:gridCol w="2148840"/>
                <a:gridCol w="4206240"/>
                <a:gridCol w="4572000"/>
              </a:tblGrid>
              <a:tr h="512064">
                <a:tc>
                  <a:txBody>
                    <a:bodyPr/>
                    <a:lstStyle/>
                    <a:p>
                      <a:pPr indent="0" marL="0">
                        <a:buNone/>
                      </a:pP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Handwritten log</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5B6472"/>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Grind Log</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3F6B3A"/>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Data entry</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Copied by hand from each label</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Read from the barcode, then verified</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Accuracy</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Open to copying mistakes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Codes captured exactly as encoded</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Legibility</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Depends on handwriting</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Clean, printed form</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Completeness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Blank fields easy to miss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Missing items flagged before saving</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Storage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Paper binder, can be lost or damaged</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Saved on the phone, with export and back-up</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Recall lookup</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Page through paper logs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Open saved logs by grind date</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r h="512064">
                <a:tc>
                  <a:txBody>
                    <a:bodyPr/>
                    <a:lstStyle/>
                    <a:p>
                      <a:pPr indent="0" marL="0">
                        <a:buNone/>
                      </a:pPr>
                      <a:r>
                        <a:rPr lang="en-US" sz="1500" b="1" dirty="0">
                          <a:solidFill>
                            <a:srgbClr val="14213D"/>
                          </a:solidFill>
                          <a:latin typeface="Calibri" pitchFamily="34" charset="0"/>
                          <a:ea typeface="Calibri" pitchFamily="34" charset="-122"/>
                          <a:cs typeface="Calibri" pitchFamily="34" charset="-120"/>
                        </a:rPr>
                        <a:t>Cost</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Printed forms and binders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No software cost, uses existing phones</a:t>
                      </a:r>
                      <a:endParaRPr lang="en-US" sz="1500" dirty="0">
                        <a:latin typeface="Calibri" charset="0"/>
                        <a:ea typeface="Calibri" charset="0"/>
                        <a:cs typeface="Calibri" charset="0"/>
                      </a:endParaRPr>
                    </a:p>
                  </a:txBody>
                  <a:tcPr marL="137160" marR="137160" marT="0" marB="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E8F1E6"/>
                    </a:solidFill>
                  </a:tcPr>
                </a:tc>
              </a:tr>
            </a:tbl>
          </a:graphicData>
        </a:graphic>
      </p:graphicFrame>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09  ·  PRACTICAL</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tx2"/>
                </a:solidFill>
                <a:latin typeface="Cambria" pitchFamily="34" charset="0"/>
                <a:ea typeface="Cambria" pitchFamily="34" charset="-122"/>
                <a:cs typeface="Cambria" pitchFamily="34" charset="-120"/>
              </a:rPr>
              <a:t>Practical for every meat department</a:t>
            </a:r>
            <a:endParaRPr lang="en-US" sz="3400" dirty="0"/>
          </a:p>
        </p:txBody>
      </p:sp>
      <p:sp>
        <p:nvSpPr>
          <p:cNvPr id="4" name="software or licensing cost tile"/>
          <p:cNvSpPr/>
          <p:nvPr/>
        </p:nvSpPr>
        <p:spPr>
          <a:xfrm>
            <a:off x="640080" y="2011680"/>
            <a:ext cx="2560320" cy="2240280"/>
          </a:xfrm>
          <a:prstGeom prst="roundRect">
            <a:avLst>
              <a:gd name="adj" fmla="val 4898"/>
            </a:avLst>
          </a:prstGeom>
          <a:solidFill>
            <a:schemeClr val="bg2"/>
          </a:solidFill>
          <a:ln w="12700">
            <a:solidFill>
              <a:schemeClr val="bg2"/>
            </a:solidFill>
            <a:prstDash val="solid"/>
          </a:ln>
        </p:spPr>
      </p:sp>
      <p:sp>
        <p:nvSpPr>
          <p:cNvPr id="5" name="$0 stat"/>
          <p:cNvSpPr txBox="1"/>
          <p:nvPr/>
        </p:nvSpPr>
        <p:spPr>
          <a:xfrm>
            <a:off x="914400" y="2240280"/>
            <a:ext cx="2103120" cy="105156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$0</a:t>
            </a:r>
            <a:endParaRPr lang="en-US" sz="6000" dirty="0"/>
          </a:p>
        </p:txBody>
      </p:sp>
      <p:sp>
        <p:nvSpPr>
          <p:cNvPr id="6" name="software or licensing cost label"/>
          <p:cNvSpPr txBox="1"/>
          <p:nvPr/>
        </p:nvSpPr>
        <p:spPr>
          <a:xfrm>
            <a:off x="914400" y="3291840"/>
            <a:ext cx="20574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software or licensing cost</a:t>
            </a:r>
            <a:endParaRPr lang="en-US" sz="1400" dirty="0"/>
          </a:p>
        </p:txBody>
      </p:sp>
      <p:sp>
        <p:nvSpPr>
          <p:cNvPr id="7" name="special scanners; uses the phone camera tile"/>
          <p:cNvSpPr/>
          <p:nvPr/>
        </p:nvSpPr>
        <p:spPr>
          <a:xfrm>
            <a:off x="3429000" y="2011680"/>
            <a:ext cx="2560320" cy="2240280"/>
          </a:xfrm>
          <a:prstGeom prst="roundRect">
            <a:avLst>
              <a:gd name="adj" fmla="val 4898"/>
            </a:avLst>
          </a:prstGeom>
          <a:solidFill>
            <a:schemeClr val="bg2"/>
          </a:solidFill>
          <a:ln w="12700">
            <a:solidFill>
              <a:schemeClr val="bg2"/>
            </a:solidFill>
            <a:prstDash val="solid"/>
          </a:ln>
        </p:spPr>
      </p:sp>
      <p:sp>
        <p:nvSpPr>
          <p:cNvPr id="8" name="0 stat"/>
          <p:cNvSpPr txBox="1"/>
          <p:nvPr/>
        </p:nvSpPr>
        <p:spPr>
          <a:xfrm>
            <a:off x="3703320" y="2240280"/>
            <a:ext cx="2103120" cy="105156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0</a:t>
            </a:r>
            <a:endParaRPr lang="en-US" sz="6000" dirty="0"/>
          </a:p>
        </p:txBody>
      </p:sp>
      <p:sp>
        <p:nvSpPr>
          <p:cNvPr id="9" name="special scanners; uses the phone camera label"/>
          <p:cNvSpPr txBox="1"/>
          <p:nvPr/>
        </p:nvSpPr>
        <p:spPr>
          <a:xfrm>
            <a:off x="3703320" y="3291840"/>
            <a:ext cx="20574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special scanners; uses the phone camera</a:t>
            </a:r>
            <a:endParaRPr lang="en-US" sz="1400" dirty="0"/>
          </a:p>
        </p:txBody>
      </p:sp>
      <p:sp>
        <p:nvSpPr>
          <p:cNvPr id="10" name="platforms: Android and iPhone tile"/>
          <p:cNvSpPr/>
          <p:nvPr/>
        </p:nvSpPr>
        <p:spPr>
          <a:xfrm>
            <a:off x="6217920" y="2011680"/>
            <a:ext cx="2560320" cy="2240280"/>
          </a:xfrm>
          <a:prstGeom prst="roundRect">
            <a:avLst>
              <a:gd name="adj" fmla="val 4898"/>
            </a:avLst>
          </a:prstGeom>
          <a:solidFill>
            <a:schemeClr val="bg2"/>
          </a:solidFill>
          <a:ln w="12700">
            <a:solidFill>
              <a:schemeClr val="bg2"/>
            </a:solidFill>
            <a:prstDash val="solid"/>
          </a:ln>
        </p:spPr>
      </p:sp>
      <p:sp>
        <p:nvSpPr>
          <p:cNvPr id="11" name="2 stat"/>
          <p:cNvSpPr txBox="1"/>
          <p:nvPr/>
        </p:nvSpPr>
        <p:spPr>
          <a:xfrm>
            <a:off x="6492240" y="2240280"/>
            <a:ext cx="2103120" cy="105156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2</a:t>
            </a:r>
            <a:endParaRPr lang="en-US" sz="6000" dirty="0"/>
          </a:p>
        </p:txBody>
      </p:sp>
      <p:sp>
        <p:nvSpPr>
          <p:cNvPr id="12" name="platforms: Android and iPhone label"/>
          <p:cNvSpPr txBox="1"/>
          <p:nvPr/>
        </p:nvSpPr>
        <p:spPr>
          <a:xfrm>
            <a:off x="6492240" y="3291840"/>
            <a:ext cx="20574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platforms: Android and iPhone</a:t>
            </a:r>
            <a:endParaRPr lang="en-US" sz="1400" dirty="0"/>
          </a:p>
        </p:txBody>
      </p:sp>
      <p:sp>
        <p:nvSpPr>
          <p:cNvPr id="13" name="link to share; updates reach every phone tile"/>
          <p:cNvSpPr/>
          <p:nvPr/>
        </p:nvSpPr>
        <p:spPr>
          <a:xfrm>
            <a:off x="9006840" y="2011680"/>
            <a:ext cx="2560320" cy="2240280"/>
          </a:xfrm>
          <a:prstGeom prst="roundRect">
            <a:avLst>
              <a:gd name="adj" fmla="val 4898"/>
            </a:avLst>
          </a:prstGeom>
          <a:solidFill>
            <a:schemeClr val="bg2"/>
          </a:solidFill>
          <a:ln w="12700">
            <a:solidFill>
              <a:schemeClr val="bg2"/>
            </a:solidFill>
            <a:prstDash val="solid"/>
          </a:ln>
        </p:spPr>
      </p:sp>
      <p:sp>
        <p:nvSpPr>
          <p:cNvPr id="14" name="1 stat"/>
          <p:cNvSpPr txBox="1"/>
          <p:nvPr/>
        </p:nvSpPr>
        <p:spPr>
          <a:xfrm>
            <a:off x="9281160" y="2240280"/>
            <a:ext cx="2103120" cy="1051560"/>
          </a:xfrm>
          <a:prstGeom prst="rect">
            <a:avLst/>
          </a:prstGeom>
          <a:noFill/>
          <a:ln/>
        </p:spPr>
        <p:txBody>
          <a:bodyPr wrap="square" lIns="0" tIns="0" rIns="0" bIns="0" rtlCol="0" anchor="ctr"/>
          <a:lstStyle/>
          <a:p>
            <a:pPr indent="0" marL="0">
              <a:buNone/>
            </a:pPr>
            <a:r>
              <a:rPr lang="en-US" sz="6000" b="1" dirty="0">
                <a:solidFill>
                  <a:schemeClr val="tx2"/>
                </a:solidFill>
                <a:latin typeface="Cambria" pitchFamily="34" charset="0"/>
                <a:ea typeface="Cambria" pitchFamily="34" charset="-122"/>
                <a:cs typeface="Cambria" pitchFamily="34" charset="-120"/>
              </a:rPr>
              <a:t>1</a:t>
            </a:r>
            <a:endParaRPr lang="en-US" sz="6000" dirty="0"/>
          </a:p>
        </p:txBody>
      </p:sp>
      <p:sp>
        <p:nvSpPr>
          <p:cNvPr id="15" name="link to share; updates reach every phone label"/>
          <p:cNvSpPr txBox="1"/>
          <p:nvPr/>
        </p:nvSpPr>
        <p:spPr>
          <a:xfrm>
            <a:off x="9281160" y="3291840"/>
            <a:ext cx="2057400" cy="7772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link to share; updates reach every phone</a:t>
            </a:r>
            <a:endParaRPr lang="en-US" sz="1400" dirty="0"/>
          </a:p>
        </p:txBody>
      </p:sp>
      <p:sp>
        <p:nvSpPr>
          <p:cNvPr id="16" name="Data stays on the device circle"/>
          <p:cNvSpPr/>
          <p:nvPr/>
        </p:nvSpPr>
        <p:spPr>
          <a:xfrm>
            <a:off x="640080" y="4846320"/>
            <a:ext cx="566928" cy="566928"/>
          </a:xfrm>
          <a:prstGeom prst="ellipse">
            <a:avLst/>
          </a:prstGeom>
          <a:solidFill>
            <a:srgbClr val="14213D"/>
          </a:solidFill>
          <a:ln w="12700">
            <a:solidFill>
              <a:srgbClr val="14213D"/>
            </a:solidFill>
            <a:prstDash val="solid"/>
          </a:ln>
        </p:spPr>
      </p:sp>
      <p:pic>
        <p:nvPicPr>
          <p:cNvPr id="17" name="Data stays on the device icon" descr="preencoded.png">    </p:cNvPr>
          <p:cNvPicPr>
            <a:picLocks noChangeAspect="1"/>
          </p:cNvPicPr>
          <p:nvPr/>
        </p:nvPicPr>
        <p:blipFill>
          <a:blip r:embed="rId1"/>
          <a:stretch>
            <a:fillRect/>
          </a:stretch>
        </p:blipFill>
        <p:spPr>
          <a:xfrm>
            <a:off x="793151" y="4999391"/>
            <a:ext cx="260787" cy="260787"/>
          </a:xfrm>
          <a:prstGeom prst="rect">
            <a:avLst/>
          </a:prstGeom>
        </p:spPr>
      </p:pic>
      <p:sp>
        <p:nvSpPr>
          <p:cNvPr id="18" name="Data stays on the device heading"/>
          <p:cNvSpPr txBox="1"/>
          <p:nvPr/>
        </p:nvSpPr>
        <p:spPr>
          <a:xfrm>
            <a:off x="1371600" y="4828032"/>
            <a:ext cx="2834640" cy="329184"/>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Data stays on the device</a:t>
            </a:r>
            <a:endParaRPr lang="en-US" sz="1500" dirty="0"/>
          </a:p>
        </p:txBody>
      </p:sp>
      <p:sp>
        <p:nvSpPr>
          <p:cNvPr id="19" name="Data stays on the device body"/>
          <p:cNvSpPr txBox="1"/>
          <p:nvPr/>
        </p:nvSpPr>
        <p:spPr>
          <a:xfrm>
            <a:off x="1371600" y="5175504"/>
            <a:ext cx="283464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No cloud services and no data sent; label photos are not stored.</a:t>
            </a:r>
            <a:endParaRPr lang="en-US" sz="1300" dirty="0"/>
          </a:p>
        </p:txBody>
      </p:sp>
      <p:sp>
        <p:nvSpPr>
          <p:cNvPr id="20" name="Matches the official layout circle"/>
          <p:cNvSpPr/>
          <p:nvPr/>
        </p:nvSpPr>
        <p:spPr>
          <a:xfrm>
            <a:off x="4343400" y="4846320"/>
            <a:ext cx="566928" cy="566928"/>
          </a:xfrm>
          <a:prstGeom prst="ellipse">
            <a:avLst/>
          </a:prstGeom>
          <a:solidFill>
            <a:srgbClr val="14213D"/>
          </a:solidFill>
          <a:ln w="12700">
            <a:solidFill>
              <a:srgbClr val="14213D"/>
            </a:solidFill>
            <a:prstDash val="solid"/>
          </a:ln>
        </p:spPr>
      </p:sp>
      <p:pic>
        <p:nvPicPr>
          <p:cNvPr id="21" name="Matches the official layout icon" descr="preencoded.png">    </p:cNvPr>
          <p:cNvPicPr>
            <a:picLocks noChangeAspect="1"/>
          </p:cNvPicPr>
          <p:nvPr/>
        </p:nvPicPr>
        <p:blipFill>
          <a:blip r:embed="rId2"/>
          <a:stretch>
            <a:fillRect/>
          </a:stretch>
        </p:blipFill>
        <p:spPr>
          <a:xfrm>
            <a:off x="4496471" y="4999391"/>
            <a:ext cx="260787" cy="260787"/>
          </a:xfrm>
          <a:prstGeom prst="rect">
            <a:avLst/>
          </a:prstGeom>
        </p:spPr>
      </p:pic>
      <p:sp>
        <p:nvSpPr>
          <p:cNvPr id="22" name="Matches the official layout heading"/>
          <p:cNvSpPr txBox="1"/>
          <p:nvPr/>
        </p:nvSpPr>
        <p:spPr>
          <a:xfrm>
            <a:off x="5074920" y="4828032"/>
            <a:ext cx="2834640" cy="329184"/>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Matches the official layout</a:t>
            </a:r>
            <a:endParaRPr lang="en-US" sz="1500" dirty="0"/>
          </a:p>
        </p:txBody>
      </p:sp>
      <p:sp>
        <p:nvSpPr>
          <p:cNvPr id="23" name="Matches the official layout body"/>
          <p:cNvSpPr txBox="1"/>
          <p:nvPr/>
        </p:nvSpPr>
        <p:spPr>
          <a:xfrm>
            <a:off x="5074920" y="5175504"/>
            <a:ext cx="283464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Produces DeCA Form 40-337 for print or PDF.</a:t>
            </a:r>
            <a:endParaRPr lang="en-US" sz="1300" dirty="0"/>
          </a:p>
        </p:txBody>
      </p:sp>
      <p:sp>
        <p:nvSpPr>
          <p:cNvPr id="24" name="Commissary branding circle"/>
          <p:cNvSpPr/>
          <p:nvPr/>
        </p:nvSpPr>
        <p:spPr>
          <a:xfrm>
            <a:off x="8046720" y="4846320"/>
            <a:ext cx="566928" cy="566928"/>
          </a:xfrm>
          <a:prstGeom prst="ellipse">
            <a:avLst/>
          </a:prstGeom>
          <a:solidFill>
            <a:srgbClr val="14213D"/>
          </a:solidFill>
          <a:ln w="12700">
            <a:solidFill>
              <a:srgbClr val="14213D"/>
            </a:solidFill>
            <a:prstDash val="solid"/>
          </a:ln>
        </p:spPr>
      </p:sp>
      <p:pic>
        <p:nvPicPr>
          <p:cNvPr id="25" name="Commissary branding icon" descr="preencoded.png">    </p:cNvPr>
          <p:cNvPicPr>
            <a:picLocks noChangeAspect="1"/>
          </p:cNvPicPr>
          <p:nvPr/>
        </p:nvPicPr>
        <p:blipFill>
          <a:blip r:embed="rId3"/>
          <a:stretch>
            <a:fillRect/>
          </a:stretch>
        </p:blipFill>
        <p:spPr>
          <a:xfrm>
            <a:off x="8199791" y="4999391"/>
            <a:ext cx="260787" cy="260787"/>
          </a:xfrm>
          <a:prstGeom prst="rect">
            <a:avLst/>
          </a:prstGeom>
        </p:spPr>
      </p:pic>
      <p:sp>
        <p:nvSpPr>
          <p:cNvPr id="26" name="Commissary branding heading"/>
          <p:cNvSpPr txBox="1"/>
          <p:nvPr/>
        </p:nvSpPr>
        <p:spPr>
          <a:xfrm>
            <a:off x="8778240" y="4828032"/>
            <a:ext cx="2834640" cy="329184"/>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Commissary branding</a:t>
            </a:r>
            <a:endParaRPr lang="en-US" sz="1500" dirty="0"/>
          </a:p>
        </p:txBody>
      </p:sp>
      <p:sp>
        <p:nvSpPr>
          <p:cNvPr id="27" name="Commissary branding body"/>
          <p:cNvSpPr txBox="1"/>
          <p:nvPr/>
        </p:nvSpPr>
        <p:spPr>
          <a:xfrm>
            <a:off x="8778240" y="5175504"/>
            <a:ext cx="2834640" cy="7772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Uses the Commissary logo with DeCA's approval.</a:t>
            </a:r>
            <a:endParaRPr lang="en-US" sz="13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640080" y="457200"/>
            <a:ext cx="9692640" cy="320040"/>
          </a:xfrm>
          <a:prstGeom prst="rect">
            <a:avLst/>
          </a:prstGeom>
          <a:noFill/>
          <a:ln/>
        </p:spPr>
        <p:txBody>
          <a:bodyPr wrap="square" lIns="0" tIns="0" rIns="0" bIns="0" rtlCol="0" anchor="ctr"/>
          <a:lstStyle/>
          <a:p>
            <a:pPr indent="0" marL="0">
              <a:buNone/>
            </a:pPr>
            <a:r>
              <a:rPr lang="en-US" sz="1200" b="1" spc="400" kern="0" dirty="0">
                <a:solidFill>
                  <a:schemeClr val="accent2"/>
                </a:solidFill>
              </a:rPr>
              <a:t>10  ·  THE PATH FORWARD</a:t>
            </a:r>
            <a:endParaRPr lang="en-US" sz="1200" dirty="0"/>
          </a:p>
        </p:txBody>
      </p:sp>
      <p:sp>
        <p:nvSpPr>
          <p:cNvPr id="3" name="Text 0"/>
          <p:cNvSpPr/>
          <p:nvPr>
            <p:ph idx="102" type="title" hasCustomPrompt="1"/>
          </p:nvPr>
        </p:nvSpPr>
        <p:spPr>
          <a:xfrm>
            <a:off x="640080" y="777240"/>
            <a:ext cx="9966960" cy="82296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Proposed pilot and next steps</a:t>
            </a:r>
            <a:endParaRPr lang="en-US" sz="3400" dirty="0"/>
          </a:p>
        </p:txBody>
      </p:sp>
      <p:sp>
        <p:nvSpPr>
          <p:cNvPr id="4" name="Pilot number"/>
          <p:cNvSpPr txBox="1"/>
          <p:nvPr/>
        </p:nvSpPr>
        <p:spPr>
          <a:xfrm>
            <a:off x="640080" y="1828800"/>
            <a:ext cx="822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01</a:t>
            </a:r>
            <a:endParaRPr lang="en-US" sz="3000" dirty="0"/>
          </a:p>
        </p:txBody>
      </p:sp>
      <p:sp>
        <p:nvSpPr>
          <p:cNvPr id="5" name="Pilot heading"/>
          <p:cNvSpPr txBox="1"/>
          <p:nvPr/>
        </p:nvSpPr>
        <p:spPr>
          <a:xfrm>
            <a:off x="1554480" y="1847088"/>
            <a:ext cx="5303520" cy="36576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Pilot</a:t>
            </a:r>
            <a:endParaRPr lang="en-US" sz="1900" dirty="0"/>
          </a:p>
        </p:txBody>
      </p:sp>
      <p:sp>
        <p:nvSpPr>
          <p:cNvPr id="6" name="Pilot body"/>
          <p:cNvSpPr txBox="1"/>
          <p:nvPr/>
        </p:nvSpPr>
        <p:spPr>
          <a:xfrm>
            <a:off x="1554480" y="2212848"/>
            <a:ext cx="5852160" cy="54864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Carolina Zone meat departments use Grind Log alongside the paper log.</a:t>
            </a:r>
            <a:endParaRPr lang="en-US" sz="1400" dirty="0"/>
          </a:p>
        </p:txBody>
      </p:sp>
      <p:sp>
        <p:nvSpPr>
          <p:cNvPr id="7" name="Measure number"/>
          <p:cNvSpPr txBox="1"/>
          <p:nvPr/>
        </p:nvSpPr>
        <p:spPr>
          <a:xfrm>
            <a:off x="640080" y="2852928"/>
            <a:ext cx="822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02</a:t>
            </a:r>
            <a:endParaRPr lang="en-US" sz="3000" dirty="0"/>
          </a:p>
        </p:txBody>
      </p:sp>
      <p:sp>
        <p:nvSpPr>
          <p:cNvPr id="8" name="Measure heading"/>
          <p:cNvSpPr txBox="1"/>
          <p:nvPr/>
        </p:nvSpPr>
        <p:spPr>
          <a:xfrm>
            <a:off x="1554480" y="2871216"/>
            <a:ext cx="5303520" cy="36576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Measure</a:t>
            </a:r>
            <a:endParaRPr lang="en-US" sz="1900" dirty="0"/>
          </a:p>
        </p:txBody>
      </p:sp>
      <p:sp>
        <p:nvSpPr>
          <p:cNvPr id="9" name="Measure body"/>
          <p:cNvSpPr txBox="1"/>
          <p:nvPr/>
        </p:nvSpPr>
        <p:spPr>
          <a:xfrm>
            <a:off x="1554480" y="3236976"/>
            <a:ext cx="5852160" cy="54864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Time per log, errors caught, completeness and employee feedback.</a:t>
            </a:r>
            <a:endParaRPr lang="en-US" sz="1400" dirty="0"/>
          </a:p>
        </p:txBody>
      </p:sp>
      <p:sp>
        <p:nvSpPr>
          <p:cNvPr id="10" name="Review number"/>
          <p:cNvSpPr txBox="1"/>
          <p:nvPr/>
        </p:nvSpPr>
        <p:spPr>
          <a:xfrm>
            <a:off x="640080" y="3877056"/>
            <a:ext cx="822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03</a:t>
            </a:r>
            <a:endParaRPr lang="en-US" sz="3000" dirty="0"/>
          </a:p>
        </p:txBody>
      </p:sp>
      <p:sp>
        <p:nvSpPr>
          <p:cNvPr id="11" name="Review heading"/>
          <p:cNvSpPr txBox="1"/>
          <p:nvPr/>
        </p:nvSpPr>
        <p:spPr>
          <a:xfrm>
            <a:off x="1554480" y="3895344"/>
            <a:ext cx="5303520" cy="36576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Review</a:t>
            </a:r>
            <a:endParaRPr lang="en-US" sz="1900" dirty="0"/>
          </a:p>
        </p:txBody>
      </p:sp>
      <p:sp>
        <p:nvSpPr>
          <p:cNvPr id="12" name="Review body"/>
          <p:cNvSpPr txBox="1"/>
          <p:nvPr/>
        </p:nvSpPr>
        <p:spPr>
          <a:xfrm>
            <a:off x="1554480" y="4261104"/>
            <a:ext cx="5852160" cy="54864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Work with Store Operations and DeCA IT on approved hosting, central storage and retention.</a:t>
            </a:r>
            <a:endParaRPr lang="en-US" sz="1400" dirty="0"/>
          </a:p>
        </p:txBody>
      </p:sp>
      <p:sp>
        <p:nvSpPr>
          <p:cNvPr id="13" name="Expand number"/>
          <p:cNvSpPr txBox="1"/>
          <p:nvPr/>
        </p:nvSpPr>
        <p:spPr>
          <a:xfrm>
            <a:off x="640080" y="4901184"/>
            <a:ext cx="822960" cy="54864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14" name="Expand heading"/>
          <p:cNvSpPr txBox="1"/>
          <p:nvPr/>
        </p:nvSpPr>
        <p:spPr>
          <a:xfrm>
            <a:off x="1554480" y="4919472"/>
            <a:ext cx="5303520" cy="365760"/>
          </a:xfrm>
          <a:prstGeom prst="rect">
            <a:avLst/>
          </a:prstGeom>
          <a:noFill/>
          <a:ln/>
        </p:spPr>
        <p:txBody>
          <a:bodyPr wrap="square" lIns="0" tIns="0" rIns="0" bIns="0" rtlCol="0" anchor="ctr"/>
          <a:lstStyle/>
          <a:p>
            <a:pPr indent="0" marL="0">
              <a:buNone/>
            </a:pPr>
            <a:r>
              <a:rPr lang="en-US" sz="1900" b="1" dirty="0">
                <a:solidFill>
                  <a:schemeClr val="bg1"/>
                </a:solidFill>
                <a:latin typeface="Calibri" pitchFamily="34" charset="0"/>
                <a:ea typeface="Calibri" pitchFamily="34" charset="-122"/>
                <a:cs typeface="Calibri" pitchFamily="34" charset="-120"/>
              </a:rPr>
              <a:t>Expand</a:t>
            </a:r>
            <a:endParaRPr lang="en-US" sz="1900" dirty="0"/>
          </a:p>
        </p:txBody>
      </p:sp>
      <p:sp>
        <p:nvSpPr>
          <p:cNvPr id="15" name="Expand body"/>
          <p:cNvSpPr txBox="1"/>
          <p:nvPr/>
        </p:nvSpPr>
        <p:spPr>
          <a:xfrm>
            <a:off x="1554480" y="5285232"/>
            <a:ext cx="5852160" cy="548640"/>
          </a:xfrm>
          <a:prstGeom prst="rect">
            <a:avLst/>
          </a:prstGeom>
          <a:noFill/>
          <a:ln/>
        </p:spPr>
        <p:txBody>
          <a:bodyPr wrap="square" lIns="0" tIns="0" rIns="0" bIns="0" rtlCol="0" anchor="t"/>
          <a:lstStyle/>
          <a:p>
            <a:pPr indent="0" marL="0">
              <a:buNone/>
            </a:pPr>
            <a:r>
              <a:rPr lang="en-US" sz="1400" dirty="0">
                <a:solidFill>
                  <a:srgbClr val="C9D3E6"/>
                </a:solidFill>
                <a:latin typeface="Calibri" pitchFamily="34" charset="0"/>
                <a:ea typeface="Calibri" pitchFamily="34" charset="-122"/>
                <a:cs typeface="Calibri" pitchFamily="34" charset="-120"/>
              </a:rPr>
              <a:t>Recommend agency-wide use if pilot goals are met.</a:t>
            </a:r>
            <a:endParaRPr lang="en-US" sz="1400" dirty="0"/>
          </a:p>
        </p:txBody>
      </p:sp>
      <p:sp>
        <p:nvSpPr>
          <p:cNvPr id="16" name="QR card"/>
          <p:cNvSpPr/>
          <p:nvPr/>
        </p:nvSpPr>
        <p:spPr>
          <a:xfrm>
            <a:off x="8366760" y="1783080"/>
            <a:ext cx="3200400" cy="4023360"/>
          </a:xfrm>
          <a:prstGeom prst="roundRect">
            <a:avLst>
              <a:gd name="adj" fmla="val 4571"/>
            </a:avLst>
          </a:prstGeom>
          <a:solidFill>
            <a:srgbClr val="FFFFFF"/>
          </a:solidFill>
          <a:ln w="12700">
            <a:solidFill>
              <a:srgbClr val="FFFFFF"/>
            </a:solidFill>
            <a:prstDash val="solid"/>
          </a:ln>
        </p:spPr>
      </p:sp>
      <p:pic>
        <p:nvPicPr>
          <p:cNvPr id="17" name="QR code" descr="QR code linking to the Grind Log app">    </p:cNvPr>
          <p:cNvPicPr>
            <a:picLocks noChangeAspect="1"/>
          </p:cNvPicPr>
          <p:nvPr/>
        </p:nvPicPr>
        <p:blipFill>
          <a:blip r:embed="rId1"/>
          <a:stretch>
            <a:fillRect/>
          </a:stretch>
        </p:blipFill>
        <p:spPr>
          <a:xfrm>
            <a:off x="8778240" y="2057400"/>
            <a:ext cx="2377440" cy="2377440"/>
          </a:xfrm>
          <a:prstGeom prst="rect">
            <a:avLst/>
          </a:prstGeom>
        </p:spPr>
      </p:pic>
      <p:sp>
        <p:nvSpPr>
          <p:cNvPr id="18" name="QR heading"/>
          <p:cNvSpPr txBox="1"/>
          <p:nvPr/>
        </p:nvSpPr>
        <p:spPr>
          <a:xfrm>
            <a:off x="8595360" y="4572000"/>
            <a:ext cx="2743200" cy="4114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Try it now</a:t>
            </a:r>
            <a:endParaRPr lang="en-US" sz="2000" dirty="0"/>
          </a:p>
        </p:txBody>
      </p:sp>
      <p:sp>
        <p:nvSpPr>
          <p:cNvPr id="19" name="QR caption"/>
          <p:cNvSpPr txBox="1"/>
          <p:nvPr/>
        </p:nvSpPr>
        <p:spPr>
          <a:xfrm>
            <a:off x="8595360" y="4983480"/>
            <a:ext cx="2743200" cy="594360"/>
          </a:xfrm>
          <a:prstGeom prst="rect">
            <a:avLst/>
          </a:prstGeom>
          <a:noFill/>
          <a:ln/>
        </p:spPr>
        <p:txBody>
          <a:bodyPr wrap="square" lIns="0" tIns="0" rIns="0" bIns="0" rtlCol="0" anchor="t"/>
          <a:lstStyle/>
          <a:p>
            <a:pPr algn="ctr" indent="0" marL="0">
              <a:buNone/>
            </a:pPr>
            <a:r>
              <a:rPr lang="en-US" sz="1200" dirty="0">
                <a:solidFill>
                  <a:schemeClr val="accent6"/>
                </a:solidFill>
                <a:latin typeface="Calibri" pitchFamily="34" charset="0"/>
                <a:ea typeface="Calibri" pitchFamily="34" charset="-122"/>
                <a:cs typeface="Calibri" pitchFamily="34" charset="-120"/>
              </a:rPr>
              <a:t>Scan with your phone camera to open Grind Log</a:t>
            </a:r>
            <a:endParaRPr lang="en-US" sz="1200" dirty="0"/>
          </a:p>
        </p:txBody>
      </p:sp>
      <p:sp>
        <p:nvSpPr>
          <p:cNvPr id="20" name="Closing tagline"/>
          <p:cNvSpPr txBox="1"/>
          <p:nvPr/>
        </p:nvSpPr>
        <p:spPr>
          <a:xfrm>
            <a:off x="640080" y="5989320"/>
            <a:ext cx="7315200" cy="365760"/>
          </a:xfrm>
          <a:prstGeom prst="rect">
            <a:avLst/>
          </a:prstGeom>
          <a:noFill/>
          <a:ln/>
        </p:spPr>
        <p:txBody>
          <a:bodyPr wrap="square" lIns="0" tIns="0" rIns="0" bIns="0" rtlCol="0" anchor="ctr"/>
          <a:lstStyle/>
          <a:p>
            <a:pPr indent="0" marL="0">
              <a:buNone/>
            </a:pPr>
            <a:r>
              <a:rPr lang="en-US" sz="1500" b="1" spc="200" kern="0" dirty="0">
                <a:solidFill>
                  <a:schemeClr val="accent2"/>
                </a:solidFill>
                <a:latin typeface="Calibri" pitchFamily="34" charset="0"/>
                <a:ea typeface="Calibri" pitchFamily="34" charset="-122"/>
                <a:cs typeface="Calibri" pitchFamily="34" charset="-120"/>
              </a:rPr>
              <a:t>Scan  ·  Verify  ·  Save  ·  Print</a:t>
            </a:r>
            <a:endParaRPr lang="en-US" sz="15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6BF"/>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rind Log">
  <a:themeElements>
    <a:clrScheme name="Grind Log">
      <a:dk1>
        <a:srgbClr val="1F2937"/>
      </a:dk1>
      <a:lt1>
        <a:srgbClr val="FFFFFF"/>
      </a:lt1>
      <a:dk2>
        <a:srgbClr val="14213D"/>
      </a:dk2>
      <a:lt2>
        <a:srgbClr val="F1F3F6"/>
      </a:lt2>
      <a:accent1>
        <a:srgbClr val="14213D"/>
      </a:accent1>
      <a:accent2>
        <a:srgbClr val="C9A227"/>
      </a:accent2>
      <a:accent3>
        <a:srgbClr val="3F6B3A"/>
      </a:accent3>
      <a:accent4>
        <a:srgbClr val="B42318"/>
      </a:accent4>
      <a:accent5>
        <a:srgbClr val="8A3B12"/>
      </a:accent5>
      <a:accent6>
        <a:srgbClr val="5B6472"/>
      </a:accent6>
      <a:hlink>
        <a:srgbClr val="1E4FD8"/>
      </a:hlink>
      <a:folHlink>
        <a:srgbClr val="5B3FA8"/>
      </a:folHlink>
    </a:clrScheme>
    <a:fontScheme name="Grind Lo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Defense Commissary Agency — Carolina 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 Log — Proof of Concept</dc:title>
  <dc:subject>PptxGenJS Presentation</dc:subject>
  <dc:creator>Carolina Zone</dc:creator>
  <cp:lastModifiedBy>Carolina Zone</cp:lastModifiedBy>
  <cp:revision>1</cp:revision>
  <dcterms:created xsi:type="dcterms:W3CDTF">2026-10-14T02:22:39Z</dcterms:created>
  <dcterms:modified xsi:type="dcterms:W3CDTF">2026-10-14T02:22:39Z</dcterms:modified>
</cp:coreProperties>
</file>